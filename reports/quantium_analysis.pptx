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ppt/notesSlides/notesSlide2.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4.xml" ContentType="application/vnd.openxmlformats-officedocument.drawingml.chartshape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4778" r:id="rId2"/>
    <p:sldId id="1010" r:id="rId3"/>
    <p:sldId id="4780" r:id="rId4"/>
    <p:sldId id="4779" r:id="rId5"/>
    <p:sldId id="4781" r:id="rId6"/>
    <p:sldId id="4782" r:id="rId7"/>
    <p:sldId id="4783" r:id="rId8"/>
    <p:sldId id="4784" r:id="rId9"/>
    <p:sldId id="4785" r:id="rId10"/>
    <p:sldId id="4786" r:id="rId11"/>
    <p:sldId id="275" r:id="rId12"/>
  </p:sldIdLst>
  <p:sldSz cx="12192000" cy="6858000"/>
  <p:notesSz cx="6858000" cy="9144000"/>
  <p:embeddedFontLst>
    <p:embeddedFont>
      <p:font typeface="Roboto" panose="02000000000000000000" pitchFamily="2" charset="0"/>
      <p:regular r:id="rId14"/>
      <p:bold r:id="rId15"/>
      <p:italic r:id="rId16"/>
      <p:boldItalic r:id="rId17"/>
    </p:embeddedFont>
    <p:embeddedFont>
      <p:font typeface="Roboto Light" panose="02000000000000000000" pitchFamily="2" charset="0"/>
      <p:regular r:id="rId18"/>
      <p:italic r:id="rId19"/>
    </p:embeddedFont>
    <p:embeddedFont>
      <p:font typeface="Roboto Medium" panose="02000000000000000000" pitchFamily="2" charset="0"/>
      <p:regular r:id="rId20"/>
      <p: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44BAC5"/>
    <a:srgbClr val="3E5F9B"/>
    <a:srgbClr val="42D6A4"/>
    <a:srgbClr val="003399"/>
    <a:srgbClr val="C7C5C4"/>
    <a:srgbClr val="BCB5AC"/>
    <a:srgbClr val="80DF7C"/>
    <a:srgbClr val="8F73BF"/>
    <a:srgbClr val="C964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283" autoAdjust="0"/>
  </p:normalViewPr>
  <p:slideViewPr>
    <p:cSldViewPr snapToGrid="0" showGuides="1">
      <p:cViewPr varScale="1">
        <p:scale>
          <a:sx n="73" d="100"/>
          <a:sy n="73" d="100"/>
        </p:scale>
        <p:origin x="221" y="58"/>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Sheet1!$C$1</c:f>
              <c:strCache>
                <c:ptCount val="1"/>
                <c:pt idx="0">
                  <c:v>Total_Transactions</c:v>
                </c:pt>
              </c:strCache>
            </c:strRef>
          </c:tx>
          <c:spPr>
            <a:ln w="31750" cap="rnd">
              <a:solidFill>
                <a:srgbClr val="003399"/>
              </a:solidFill>
              <a:round/>
            </a:ln>
            <a:effectLst/>
          </c:spPr>
          <c:marker>
            <c:symbol val="none"/>
          </c:marker>
          <c:cat>
            <c:strRef>
              <c:f>Sheet1!$A$2:$B$13</c:f>
              <c:strCache>
                <c:ptCount val="12"/>
                <c:pt idx="0">
                  <c:v>Jul-18</c:v>
                </c:pt>
                <c:pt idx="1">
                  <c:v>Aug-18</c:v>
                </c:pt>
                <c:pt idx="2">
                  <c:v>Sep-18</c:v>
                </c:pt>
                <c:pt idx="3">
                  <c:v>Oct-18</c:v>
                </c:pt>
                <c:pt idx="4">
                  <c:v>Nov-18</c:v>
                </c:pt>
                <c:pt idx="5">
                  <c:v>Dec-18</c:v>
                </c:pt>
                <c:pt idx="6">
                  <c:v>Jan-19</c:v>
                </c:pt>
                <c:pt idx="7">
                  <c:v>Feb-19</c:v>
                </c:pt>
                <c:pt idx="8">
                  <c:v>Mar-19</c:v>
                </c:pt>
                <c:pt idx="9">
                  <c:v>Apr-19</c:v>
                </c:pt>
                <c:pt idx="10">
                  <c:v>May-19</c:v>
                </c:pt>
                <c:pt idx="11">
                  <c:v>Jun-19</c:v>
                </c:pt>
              </c:strCache>
            </c:strRef>
          </c:cat>
          <c:val>
            <c:numRef>
              <c:f>Sheet1!$C$2:$C$13</c:f>
              <c:numCache>
                <c:formatCode>General</c:formatCode>
                <c:ptCount val="12"/>
                <c:pt idx="0">
                  <c:v>22435</c:v>
                </c:pt>
                <c:pt idx="1">
                  <c:v>22265</c:v>
                </c:pt>
                <c:pt idx="2">
                  <c:v>21593</c:v>
                </c:pt>
                <c:pt idx="3">
                  <c:v>22157</c:v>
                </c:pt>
                <c:pt idx="4">
                  <c:v>21710</c:v>
                </c:pt>
                <c:pt idx="5">
                  <c:v>22683</c:v>
                </c:pt>
                <c:pt idx="6">
                  <c:v>22000</c:v>
                </c:pt>
                <c:pt idx="7">
                  <c:v>20266</c:v>
                </c:pt>
                <c:pt idx="8">
                  <c:v>22447</c:v>
                </c:pt>
                <c:pt idx="9">
                  <c:v>21637</c:v>
                </c:pt>
                <c:pt idx="10">
                  <c:v>22238</c:v>
                </c:pt>
                <c:pt idx="11">
                  <c:v>21698</c:v>
                </c:pt>
              </c:numCache>
            </c:numRef>
          </c:val>
          <c:smooth val="0"/>
          <c:extLst>
            <c:ext xmlns:c16="http://schemas.microsoft.com/office/drawing/2014/chart" uri="{C3380CC4-5D6E-409C-BE32-E72D297353CC}">
              <c16:uniqueId val="{00000000-D968-49FC-8AB5-044C25D8CAEE}"/>
            </c:ext>
          </c:extLst>
        </c:ser>
        <c:dLbls>
          <c:showLegendKey val="0"/>
          <c:showVal val="0"/>
          <c:showCatName val="0"/>
          <c:showSerName val="0"/>
          <c:showPercent val="0"/>
          <c:showBubbleSize val="0"/>
        </c:dLbls>
        <c:smooth val="0"/>
        <c:axId val="1973991632"/>
        <c:axId val="1973992112"/>
        <c:extLst>
          <c:ext xmlns:c15="http://schemas.microsoft.com/office/drawing/2012/chart" uri="{02D57815-91ED-43cb-92C2-25804820EDAC}">
            <c15:filteredLineSeries>
              <c15:ser>
                <c:idx val="1"/>
                <c:order val="1"/>
                <c:tx>
                  <c:strRef>
                    <c:extLst>
                      <c:ext uri="{02D57815-91ED-43cb-92C2-25804820EDAC}">
                        <c15:formulaRef>
                          <c15:sqref>Sheet1!$D$1</c15:sqref>
                        </c15:formulaRef>
                      </c:ext>
                    </c:extLst>
                    <c:strCache>
                      <c:ptCount val="1"/>
                      <c:pt idx="0">
                        <c:v>Column1</c:v>
                      </c:pt>
                    </c:strCache>
                  </c:strRef>
                </c:tx>
                <c:spPr>
                  <a:ln w="31750" cap="rnd">
                    <a:solidFill>
                      <a:schemeClr val="accent2"/>
                    </a:solidFill>
                    <a:round/>
                  </a:ln>
                  <a:effectLst/>
                </c:spPr>
                <c:marker>
                  <c:symbol val="none"/>
                </c:marker>
                <c:cat>
                  <c:strRef>
                    <c:extLst>
                      <c:ext uri="{02D57815-91ED-43cb-92C2-25804820EDAC}">
                        <c15:formulaRef>
                          <c15:sqref>Sheet1!$A$2:$B$13</c15:sqref>
                        </c15:formulaRef>
                      </c:ext>
                    </c:extLst>
                    <c:strCache>
                      <c:ptCount val="12"/>
                      <c:pt idx="0">
                        <c:v>Jul-18</c:v>
                      </c:pt>
                      <c:pt idx="1">
                        <c:v>Aug-18</c:v>
                      </c:pt>
                      <c:pt idx="2">
                        <c:v>Sep-18</c:v>
                      </c:pt>
                      <c:pt idx="3">
                        <c:v>Oct-18</c:v>
                      </c:pt>
                      <c:pt idx="4">
                        <c:v>Nov-18</c:v>
                      </c:pt>
                      <c:pt idx="5">
                        <c:v>Dec-18</c:v>
                      </c:pt>
                      <c:pt idx="6">
                        <c:v>Jan-19</c:v>
                      </c:pt>
                      <c:pt idx="7">
                        <c:v>Feb-19</c:v>
                      </c:pt>
                      <c:pt idx="8">
                        <c:v>Mar-19</c:v>
                      </c:pt>
                      <c:pt idx="9">
                        <c:v>Apr-19</c:v>
                      </c:pt>
                      <c:pt idx="10">
                        <c:v>May-19</c:v>
                      </c:pt>
                      <c:pt idx="11">
                        <c:v>Jun-19</c:v>
                      </c:pt>
                    </c:strCache>
                  </c:strRef>
                </c:cat>
                <c:val>
                  <c:numRef>
                    <c:extLst>
                      <c:ext uri="{02D57815-91ED-43cb-92C2-25804820EDAC}">
                        <c15:formulaRef>
                          <c15:sqref>Sheet1!$D$2:$D$13</c15:sqref>
                        </c15:formulaRef>
                      </c:ext>
                    </c:extLst>
                    <c:numCache>
                      <c:formatCode>General</c:formatCode>
                      <c:ptCount val="12"/>
                    </c:numCache>
                  </c:numRef>
                </c:val>
                <c:smooth val="0"/>
                <c:extLst>
                  <c:ext xmlns:c16="http://schemas.microsoft.com/office/drawing/2014/chart" uri="{C3380CC4-5D6E-409C-BE32-E72D297353CC}">
                    <c16:uniqueId val="{00000001-D968-49FC-8AB5-044C25D8CAEE}"/>
                  </c:ext>
                </c:extLst>
              </c15:ser>
            </c15:filteredLineSeries>
          </c:ext>
        </c:extLst>
      </c:lineChart>
      <c:catAx>
        <c:axId val="1973991632"/>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973992112"/>
        <c:crosses val="autoZero"/>
        <c:auto val="1"/>
        <c:lblAlgn val="ctr"/>
        <c:lblOffset val="100"/>
        <c:noMultiLvlLbl val="1"/>
      </c:catAx>
      <c:valAx>
        <c:axId val="1973992112"/>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97399163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800442913385826"/>
          <c:y val="0.10121492979730994"/>
          <c:w val="0.8701205708661417"/>
          <c:h val="0.60442485209000663"/>
        </c:manualLayout>
      </c:layout>
      <c:barChart>
        <c:barDir val="col"/>
        <c:grouping val="clustered"/>
        <c:varyColors val="0"/>
        <c:ser>
          <c:idx val="0"/>
          <c:order val="0"/>
          <c:tx>
            <c:strRef>
              <c:f>Sheet1!$B$1</c:f>
              <c:strCache>
                <c:ptCount val="1"/>
                <c:pt idx="0">
                  <c:v>Budget</c:v>
                </c:pt>
              </c:strCache>
            </c:strRef>
          </c:tx>
          <c:spPr>
            <a:solidFill>
              <a:srgbClr val="3E5F9B"/>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197" b="0" i="0" u="none" strike="noStrike" kern="1200" baseline="0">
                    <a:ln>
                      <a:solidFill>
                        <a:srgbClr val="000000"/>
                      </a:solidFill>
                      <a:prstDash val="solid"/>
                    </a:ln>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MIDAGE SINGLES/COUPLES</c:v>
                </c:pt>
                <c:pt idx="1">
                  <c:v>NEW FAMILIES</c:v>
                </c:pt>
                <c:pt idx="2">
                  <c:v>OLDER FAMILIES</c:v>
                </c:pt>
                <c:pt idx="3">
                  <c:v>OLDER SINGLES/COUPLES</c:v>
                </c:pt>
                <c:pt idx="4">
                  <c:v>RETIREES</c:v>
                </c:pt>
                <c:pt idx="5">
                  <c:v>YOUNG FAMILIES</c:v>
                </c:pt>
                <c:pt idx="6">
                  <c:v>YOUNG SINGLES/COUPLES</c:v>
                </c:pt>
              </c:strCache>
            </c:strRef>
          </c:cat>
          <c:val>
            <c:numRef>
              <c:f>Sheet1!$B$2:$B$8</c:f>
              <c:numCache>
                <c:formatCode>General</c:formatCode>
                <c:ptCount val="7"/>
                <c:pt idx="0">
                  <c:v>6.0264586160108502</c:v>
                </c:pt>
                <c:pt idx="1">
                  <c:v>4.8215271389144396</c:v>
                </c:pt>
                <c:pt idx="2">
                  <c:v>9.07677293428757</c:v>
                </c:pt>
                <c:pt idx="3">
                  <c:v>6.7813982264384398</c:v>
                </c:pt>
                <c:pt idx="4">
                  <c:v>6.1418472063853997</c:v>
                </c:pt>
                <c:pt idx="5">
                  <c:v>8.7229951935239001</c:v>
                </c:pt>
                <c:pt idx="6">
                  <c:v>4.2500685494927302</c:v>
                </c:pt>
              </c:numCache>
            </c:numRef>
          </c:val>
          <c:extLst>
            <c:ext xmlns:c16="http://schemas.microsoft.com/office/drawing/2014/chart" uri="{C3380CC4-5D6E-409C-BE32-E72D297353CC}">
              <c16:uniqueId val="{00000000-4FE7-49A6-8AA6-BC54777FE796}"/>
            </c:ext>
          </c:extLst>
        </c:ser>
        <c:ser>
          <c:idx val="1"/>
          <c:order val="1"/>
          <c:tx>
            <c:strRef>
              <c:f>Sheet1!$C$1</c:f>
              <c:strCache>
                <c:ptCount val="1"/>
                <c:pt idx="0">
                  <c:v>Mainstream</c:v>
                </c:pt>
              </c:strCache>
            </c:strRef>
          </c:tx>
          <c:spPr>
            <a:solidFill>
              <a:srgbClr val="44BAC5"/>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197" b="0" i="0" u="none" strike="noStrike" kern="1200" baseline="0">
                    <a:ln>
                      <a:solidFill>
                        <a:srgbClr val="000000"/>
                      </a:solidFill>
                      <a:prstDash val="solid"/>
                    </a:ln>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MIDAGE SINGLES/COUPLES</c:v>
                </c:pt>
                <c:pt idx="1">
                  <c:v>NEW FAMILIES</c:v>
                </c:pt>
                <c:pt idx="2">
                  <c:v>OLDER FAMILIES</c:v>
                </c:pt>
                <c:pt idx="3">
                  <c:v>OLDER SINGLES/COUPLES</c:v>
                </c:pt>
                <c:pt idx="4">
                  <c:v>RETIREES</c:v>
                </c:pt>
                <c:pt idx="5">
                  <c:v>YOUNG FAMILIES</c:v>
                </c:pt>
                <c:pt idx="6">
                  <c:v>YOUNG SINGLES/COUPLES</c:v>
                </c:pt>
              </c:strCache>
            </c:strRef>
          </c:cat>
          <c:val>
            <c:numRef>
              <c:f>Sheet1!$C$2:$C$8</c:f>
              <c:numCache>
                <c:formatCode>General</c:formatCode>
                <c:ptCount val="7"/>
                <c:pt idx="0">
                  <c:v>6.4320800485142504</c:v>
                </c:pt>
                <c:pt idx="1">
                  <c:v>4.8915662650602396</c:v>
                </c:pt>
                <c:pt idx="2">
                  <c:v>9.2553802008608308</c:v>
                </c:pt>
                <c:pt idx="3">
                  <c:v>6.7120214079868203</c:v>
                </c:pt>
                <c:pt idx="4">
                  <c:v>5.9259201006605799</c:v>
                </c:pt>
                <c:pt idx="5">
                  <c:v>8.6383612662942202</c:v>
                </c:pt>
                <c:pt idx="6">
                  <c:v>4.5755968169761196</c:v>
                </c:pt>
              </c:numCache>
            </c:numRef>
          </c:val>
          <c:extLst>
            <c:ext xmlns:c16="http://schemas.microsoft.com/office/drawing/2014/chart" uri="{C3380CC4-5D6E-409C-BE32-E72D297353CC}">
              <c16:uniqueId val="{00000001-4FE7-49A6-8AA6-BC54777FE796}"/>
            </c:ext>
          </c:extLst>
        </c:ser>
        <c:ser>
          <c:idx val="2"/>
          <c:order val="2"/>
          <c:tx>
            <c:strRef>
              <c:f>Sheet1!$D$1</c:f>
              <c:strCache>
                <c:ptCount val="1"/>
                <c:pt idx="0">
                  <c:v>Premium</c:v>
                </c:pt>
              </c:strCache>
            </c:strRef>
          </c:tx>
          <c:spPr>
            <a:solidFill>
              <a:srgbClr val="42D6A4"/>
            </a:solidFill>
            <a:ln>
              <a:noFill/>
            </a:ln>
            <a:effectLst/>
          </c:spPr>
          <c:invertIfNegative val="0"/>
          <c:dLbls>
            <c:dLbl>
              <c:idx val="0"/>
              <c:numFmt formatCode="#,##0.0" sourceLinked="0"/>
              <c:spPr>
                <a:noFill/>
                <a:ln>
                  <a:noFill/>
                </a:ln>
                <a:effectLst/>
              </c:spPr>
              <c:txPr>
                <a:bodyPr rot="0" spcFirstLastPara="1" vertOverflow="ellipsis" vert="horz" wrap="square" anchor="ctr" anchorCtr="1"/>
                <a:lstStyle/>
                <a:p>
                  <a:pPr>
                    <a:defRPr sz="1197" b="0" i="0" u="none" strike="noStrike" kern="1200" baseline="0">
                      <a:ln>
                        <a:solidFill>
                          <a:srgbClr val="000000"/>
                        </a:solidFill>
                        <a:prstDash val="solid"/>
                      </a:ln>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5-AAEF-4E4E-91FC-4040E81DFF04}"/>
                </c:ext>
              </c:extLst>
            </c:dLbl>
            <c:dLbl>
              <c:idx val="1"/>
              <c:numFmt formatCode="#,##0.0" sourceLinked="0"/>
              <c:spPr>
                <a:noFill/>
                <a:ln>
                  <a:noFill/>
                </a:ln>
                <a:effectLst/>
              </c:spPr>
              <c:txPr>
                <a:bodyPr rot="0" spcFirstLastPara="1" vertOverflow="ellipsis" vert="horz" wrap="square" anchor="ctr" anchorCtr="1"/>
                <a:lstStyle/>
                <a:p>
                  <a:pPr>
                    <a:defRPr sz="1197" b="0" i="0" u="none" strike="noStrike" kern="1200" baseline="0">
                      <a:ln>
                        <a:solidFill>
                          <a:srgbClr val="000000"/>
                        </a:solidFill>
                        <a:prstDash val="solid"/>
                      </a:ln>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6-AAEF-4E4E-91FC-4040E81DFF04}"/>
                </c:ext>
              </c:extLst>
            </c:dLbl>
            <c:dLbl>
              <c:idx val="2"/>
              <c:numFmt formatCode="#,##0.0" sourceLinked="0"/>
              <c:spPr>
                <a:noFill/>
                <a:ln>
                  <a:noFill/>
                </a:ln>
                <a:effectLst/>
              </c:spPr>
              <c:txPr>
                <a:bodyPr rot="0" spcFirstLastPara="1" vertOverflow="ellipsis" vert="horz" wrap="square" anchor="ctr" anchorCtr="1"/>
                <a:lstStyle/>
                <a:p>
                  <a:pPr>
                    <a:defRPr sz="1197" b="0" i="0" u="none" strike="noStrike" kern="1200" baseline="0">
                      <a:ln>
                        <a:solidFill>
                          <a:srgbClr val="000000"/>
                        </a:solidFill>
                        <a:prstDash val="solid"/>
                      </a:ln>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7-AAEF-4E4E-91FC-4040E81DFF04}"/>
                </c:ext>
              </c:extLst>
            </c:dLbl>
            <c:dLbl>
              <c:idx val="3"/>
              <c:numFmt formatCode="#,##0.0" sourceLinked="0"/>
              <c:spPr>
                <a:noFill/>
                <a:ln>
                  <a:noFill/>
                </a:ln>
                <a:effectLst/>
              </c:spPr>
              <c:txPr>
                <a:bodyPr rot="0" spcFirstLastPara="1" vertOverflow="ellipsis" vert="horz" wrap="square" anchor="ctr" anchorCtr="1"/>
                <a:lstStyle/>
                <a:p>
                  <a:pPr>
                    <a:defRPr sz="1197" b="0" i="0" u="none" strike="noStrike" kern="1200" baseline="0">
                      <a:ln>
                        <a:solidFill>
                          <a:srgbClr val="000000"/>
                        </a:solidFill>
                        <a:prstDash val="solid"/>
                      </a:ln>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4-AAEF-4E4E-91FC-4040E81DFF04}"/>
                </c:ext>
              </c:extLst>
            </c:dLbl>
            <c:dLbl>
              <c:idx val="4"/>
              <c:numFmt formatCode="#,##0.0" sourceLinked="0"/>
              <c:spPr>
                <a:noFill/>
                <a:ln>
                  <a:noFill/>
                </a:ln>
                <a:effectLst/>
              </c:spPr>
              <c:txPr>
                <a:bodyPr rot="0" spcFirstLastPara="1" vertOverflow="ellipsis" vert="horz" wrap="square" anchor="ctr" anchorCtr="1"/>
                <a:lstStyle/>
                <a:p>
                  <a:pPr>
                    <a:defRPr sz="1197" b="0" i="0" u="none" strike="noStrike" kern="1200" baseline="0">
                      <a:ln>
                        <a:solidFill>
                          <a:srgbClr val="000000"/>
                        </a:solidFill>
                        <a:prstDash val="solid"/>
                      </a:ln>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3-AAEF-4E4E-91FC-4040E81DFF04}"/>
                </c:ext>
              </c:extLst>
            </c:dLbl>
            <c:dLbl>
              <c:idx val="5"/>
              <c:numFmt formatCode="#,##0.0" sourceLinked="0"/>
              <c:spPr>
                <a:noFill/>
                <a:ln>
                  <a:noFill/>
                </a:ln>
                <a:effectLst/>
              </c:spPr>
              <c:txPr>
                <a:bodyPr rot="0" spcFirstLastPara="1" vertOverflow="ellipsis" vert="horz" wrap="square" anchor="ctr" anchorCtr="1"/>
                <a:lstStyle/>
                <a:p>
                  <a:pPr>
                    <a:defRPr sz="1197" b="0" i="0" u="none" strike="noStrike" kern="1200" baseline="0">
                      <a:ln>
                        <a:solidFill>
                          <a:srgbClr val="000000"/>
                        </a:solidFill>
                        <a:prstDash val="solid"/>
                      </a:ln>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2-AAEF-4E4E-91FC-4040E81DFF04}"/>
                </c:ext>
              </c:extLst>
            </c:dLbl>
            <c:dLbl>
              <c:idx val="6"/>
              <c:numFmt formatCode="#,##0.0" sourceLinked="0"/>
              <c:spPr>
                <a:noFill/>
                <a:ln>
                  <a:noFill/>
                </a:ln>
                <a:effectLst/>
              </c:spPr>
              <c:txPr>
                <a:bodyPr rot="0" spcFirstLastPara="1" vertOverflow="ellipsis" vert="horz" wrap="square" anchor="ctr" anchorCtr="1"/>
                <a:lstStyle/>
                <a:p>
                  <a:pPr>
                    <a:defRPr sz="1197" b="0" i="0" u="none" strike="noStrike" kern="1200" baseline="0">
                      <a:ln>
                        <a:solidFill>
                          <a:srgbClr val="000000"/>
                        </a:solidFill>
                        <a:prstDash val="solid"/>
                      </a:ln>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8-AAEF-4E4E-91FC-4040E81DFF04}"/>
                </c:ext>
              </c:extLst>
            </c:dLbl>
            <c:spPr>
              <a:noFill/>
              <a:ln>
                <a:noFill/>
              </a:ln>
              <a:effectLst/>
            </c:spPr>
            <c:txPr>
              <a:bodyPr rot="0" spcFirstLastPara="1" vertOverflow="ellipsis" vert="horz" wrap="square" anchor="ctr" anchorCtr="1"/>
              <a:lstStyle/>
              <a:p>
                <a:pPr>
                  <a:defRPr sz="1197" b="0" i="0" u="none" strike="noStrike" kern="1200" baseline="0">
                    <a:ln>
                      <a:solidFill>
                        <a:srgbClr val="000000"/>
                      </a:solidFill>
                      <a:prstDash val="solid"/>
                    </a:ln>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MIDAGE SINGLES/COUPLES</c:v>
                </c:pt>
                <c:pt idx="1">
                  <c:v>NEW FAMILIES</c:v>
                </c:pt>
                <c:pt idx="2">
                  <c:v>OLDER FAMILIES</c:v>
                </c:pt>
                <c:pt idx="3">
                  <c:v>OLDER SINGLES/COUPLES</c:v>
                </c:pt>
                <c:pt idx="4">
                  <c:v>RETIREES</c:v>
                </c:pt>
                <c:pt idx="5">
                  <c:v>YOUNG FAMILIES</c:v>
                </c:pt>
                <c:pt idx="6">
                  <c:v>YOUNG SINGLES/COUPLES</c:v>
                </c:pt>
              </c:strCache>
            </c:strRef>
          </c:cat>
          <c:val>
            <c:numRef>
              <c:f>Sheet1!$D$2:$D$8</c:f>
              <c:numCache>
                <c:formatCode>General</c:formatCode>
                <c:ptCount val="7"/>
                <c:pt idx="0">
                  <c:v>6.0785141409877497</c:v>
                </c:pt>
                <c:pt idx="1">
                  <c:v>4.8156521739130396</c:v>
                </c:pt>
                <c:pt idx="2">
                  <c:v>9.0717167189601007</c:v>
                </c:pt>
                <c:pt idx="3">
                  <c:v>6.7695429303716299</c:v>
                </c:pt>
                <c:pt idx="4">
                  <c:v>6.1033578174186696</c:v>
                </c:pt>
                <c:pt idx="5">
                  <c:v>8.7160133444537102</c:v>
                </c:pt>
                <c:pt idx="6">
                  <c:v>4.2641129032257998</c:v>
                </c:pt>
              </c:numCache>
            </c:numRef>
          </c:val>
          <c:extLst>
            <c:ext xmlns:c16="http://schemas.microsoft.com/office/drawing/2014/chart" uri="{C3380CC4-5D6E-409C-BE32-E72D297353CC}">
              <c16:uniqueId val="{00000002-4FE7-49A6-8AA6-BC54777FE796}"/>
            </c:ext>
          </c:extLst>
        </c:ser>
        <c:dLbls>
          <c:showLegendKey val="0"/>
          <c:showVal val="0"/>
          <c:showCatName val="0"/>
          <c:showSerName val="0"/>
          <c:showPercent val="0"/>
          <c:showBubbleSize val="0"/>
        </c:dLbls>
        <c:gapWidth val="140"/>
        <c:overlap val="-40"/>
        <c:axId val="1975510784"/>
        <c:axId val="1975511744"/>
      </c:barChart>
      <c:catAx>
        <c:axId val="1975510784"/>
        <c:scaling>
          <c:orientation val="minMax"/>
        </c:scaling>
        <c:delete val="0"/>
        <c:axPos val="b"/>
        <c:numFmt formatCode="General" sourceLinked="1"/>
        <c:majorTickMark val="none"/>
        <c:minorTickMark val="none"/>
        <c:tickLblPos val="nextTo"/>
        <c:spPr>
          <a:solidFill>
            <a:schemeClr val="bg1"/>
          </a:solid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ln>
                  <a:solidFill>
                    <a:srgbClr val="000000"/>
                  </a:solidFill>
                  <a:prstDash val="solid"/>
                </a:ln>
                <a:solidFill>
                  <a:schemeClr val="tx1">
                    <a:lumMod val="65000"/>
                    <a:lumOff val="35000"/>
                  </a:schemeClr>
                </a:solidFill>
                <a:latin typeface="+mn-lt"/>
                <a:ea typeface="+mn-ea"/>
                <a:cs typeface="+mn-cs"/>
              </a:defRPr>
            </a:pPr>
            <a:endParaRPr lang="en-US"/>
          </a:p>
        </c:txPr>
        <c:crossAx val="1975511744"/>
        <c:crosses val="autoZero"/>
        <c:auto val="1"/>
        <c:lblAlgn val="ctr"/>
        <c:lblOffset val="100"/>
        <c:noMultiLvlLbl val="0"/>
      </c:catAx>
      <c:valAx>
        <c:axId val="1975511744"/>
        <c:scaling>
          <c:orientation val="minMax"/>
          <c:max val="1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ln>
                  <a:solidFill>
                    <a:srgbClr val="000000"/>
                  </a:solidFill>
                  <a:prstDash val="solid"/>
                </a:ln>
                <a:solidFill>
                  <a:schemeClr val="tx1">
                    <a:lumMod val="65000"/>
                    <a:lumOff val="35000"/>
                  </a:schemeClr>
                </a:solidFill>
                <a:latin typeface="+mn-lt"/>
                <a:ea typeface="+mn-ea"/>
                <a:cs typeface="+mn-cs"/>
              </a:defRPr>
            </a:pPr>
            <a:endParaRPr lang="en-US"/>
          </a:p>
        </c:txPr>
        <c:crossAx val="1975510784"/>
        <c:crosses val="autoZero"/>
        <c:crossBetween val="between"/>
        <c:majorUnit val="2"/>
      </c:valAx>
      <c:spPr>
        <a:noFill/>
        <a:ln>
          <a:noFill/>
        </a:ln>
        <a:effectLst/>
      </c:spPr>
    </c:plotArea>
    <c:legend>
      <c:legendPos val="b"/>
      <c:legendEntry>
        <c:idx val="0"/>
        <c:txPr>
          <a:bodyPr rot="0" spcFirstLastPara="1" vertOverflow="ellipsis" vert="horz" wrap="square" anchor="ctr" anchorCtr="1"/>
          <a:lstStyle/>
          <a:p>
            <a:pPr>
              <a:defRPr sz="1197" b="0" i="0" u="none" strike="noStrike" kern="1200" baseline="0">
                <a:ln>
                  <a:solidFill>
                    <a:srgbClr val="000000"/>
                  </a:solidFill>
                  <a:prstDash val="solid"/>
                </a:ln>
                <a:solidFill>
                  <a:schemeClr val="tx1">
                    <a:lumMod val="65000"/>
                    <a:lumOff val="35000"/>
                  </a:schemeClr>
                </a:solidFill>
                <a:latin typeface="+mn-lt"/>
                <a:ea typeface="+mn-ea"/>
                <a:cs typeface="+mn-cs"/>
              </a:defRPr>
            </a:pPr>
            <a:endParaRPr lang="en-US"/>
          </a:p>
        </c:txPr>
      </c:legendEntry>
      <c:layout>
        <c:manualLayout>
          <c:xMode val="edge"/>
          <c:yMode val="edge"/>
          <c:x val="0.32435039370078739"/>
          <c:y val="0.93853193045448258"/>
          <c:w val="0.32629921259842526"/>
          <c:h val="5.2093070122227476E-2"/>
        </c:manualLayout>
      </c:layout>
      <c:overlay val="0"/>
      <c:spPr>
        <a:noFill/>
        <a:ln>
          <a:noFill/>
        </a:ln>
        <a:effectLst/>
      </c:spPr>
      <c:txPr>
        <a:bodyPr rot="0" spcFirstLastPara="1" vertOverflow="ellipsis" vert="horz" wrap="square" anchor="ctr" anchorCtr="1"/>
        <a:lstStyle/>
        <a:p>
          <a:pPr>
            <a:defRPr sz="1197" b="0" i="0" u="none" strike="noStrike" kern="1200" baseline="0">
              <a:ln>
                <a:solidFill>
                  <a:srgbClr val="000000"/>
                </a:solidFill>
                <a:prstDash val="solid"/>
              </a:ln>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n>
            <a:solidFill>
              <a:srgbClr val="000000"/>
            </a:solidFill>
            <a:prstDash val="solid"/>
          </a:ln>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Budget</c:v>
                </c:pt>
              </c:strCache>
            </c:strRef>
          </c:tx>
          <c:spPr>
            <a:solidFill>
              <a:srgbClr val="3E5F9B"/>
            </a:solidFill>
            <a:ln>
              <a:noFill/>
            </a:ln>
            <a:effectLst/>
          </c:spPr>
          <c:invertIfNegative val="0"/>
          <c:dLbls>
            <c:spPr>
              <a:solidFill>
                <a:srgbClr val="3E5F9B"/>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FFFFFF"/>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MIDAGE SINGLES/COUPLES</c:v>
                </c:pt>
                <c:pt idx="1">
                  <c:v>NEW FAMILIES</c:v>
                </c:pt>
                <c:pt idx="2">
                  <c:v>OLDER FAMILIES</c:v>
                </c:pt>
                <c:pt idx="3">
                  <c:v>OLDER SINGLES/COUPLES</c:v>
                </c:pt>
                <c:pt idx="4">
                  <c:v>RETIREES</c:v>
                </c:pt>
                <c:pt idx="5">
                  <c:v>YOUNG FAMILIES</c:v>
                </c:pt>
                <c:pt idx="6">
                  <c:v>YOUNG SINGLES/COUPLES</c:v>
                </c:pt>
              </c:strCache>
            </c:strRef>
          </c:cat>
          <c:val>
            <c:numRef>
              <c:f>Sheet1!$B$2:$B$8</c:f>
              <c:numCache>
                <c:formatCode>0.00%</c:formatCode>
                <c:ptCount val="7"/>
                <c:pt idx="0">
                  <c:v>0.2064</c:v>
                </c:pt>
                <c:pt idx="1">
                  <c:v>0.43619999999999998</c:v>
                </c:pt>
                <c:pt idx="2">
                  <c:v>0.4788</c:v>
                </c:pt>
                <c:pt idx="3">
                  <c:v>0.33700000000000002</c:v>
                </c:pt>
                <c:pt idx="4">
                  <c:v>0.30130000000000001</c:v>
                </c:pt>
                <c:pt idx="5">
                  <c:v>0.4375</c:v>
                </c:pt>
                <c:pt idx="6">
                  <c:v>0.25969999999999999</c:v>
                </c:pt>
              </c:numCache>
            </c:numRef>
          </c:val>
          <c:extLst>
            <c:ext xmlns:c16="http://schemas.microsoft.com/office/drawing/2014/chart" uri="{C3380CC4-5D6E-409C-BE32-E72D297353CC}">
              <c16:uniqueId val="{00000000-B395-4BF6-AF73-A206A8E3DAB4}"/>
            </c:ext>
          </c:extLst>
        </c:ser>
        <c:ser>
          <c:idx val="1"/>
          <c:order val="1"/>
          <c:tx>
            <c:strRef>
              <c:f>Sheet1!$C$1</c:f>
              <c:strCache>
                <c:ptCount val="1"/>
                <c:pt idx="0">
                  <c:v>Mainstream</c:v>
                </c:pt>
              </c:strCache>
            </c:strRef>
          </c:tx>
          <c:spPr>
            <a:solidFill>
              <a:srgbClr val="44BAC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FFFFFF"/>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MIDAGE SINGLES/COUPLES</c:v>
                </c:pt>
                <c:pt idx="1">
                  <c:v>NEW FAMILIES</c:v>
                </c:pt>
                <c:pt idx="2">
                  <c:v>OLDER FAMILIES</c:v>
                </c:pt>
                <c:pt idx="3">
                  <c:v>OLDER SINGLES/COUPLES</c:v>
                </c:pt>
                <c:pt idx="4">
                  <c:v>RETIREES</c:v>
                </c:pt>
                <c:pt idx="5">
                  <c:v>YOUNG FAMILIES</c:v>
                </c:pt>
                <c:pt idx="6">
                  <c:v>YOUNG SINGLES/COUPLES</c:v>
                </c:pt>
              </c:strCache>
            </c:strRef>
          </c:cat>
          <c:val>
            <c:numRef>
              <c:f>Sheet1!$C$2:$C$8</c:f>
              <c:numCache>
                <c:formatCode>0.00%</c:formatCode>
                <c:ptCount val="7"/>
                <c:pt idx="0">
                  <c:v>0.46179999999999999</c:v>
                </c:pt>
                <c:pt idx="1">
                  <c:v>0.33310000000000001</c:v>
                </c:pt>
                <c:pt idx="2">
                  <c:v>0.28949999999999998</c:v>
                </c:pt>
                <c:pt idx="3">
                  <c:v>0.33760000000000001</c:v>
                </c:pt>
                <c:pt idx="4">
                  <c:v>0.43680000000000002</c:v>
                </c:pt>
                <c:pt idx="5">
                  <c:v>0.29709999999999998</c:v>
                </c:pt>
                <c:pt idx="6">
                  <c:v>0.56369999999999998</c:v>
                </c:pt>
              </c:numCache>
            </c:numRef>
          </c:val>
          <c:extLst>
            <c:ext xmlns:c16="http://schemas.microsoft.com/office/drawing/2014/chart" uri="{C3380CC4-5D6E-409C-BE32-E72D297353CC}">
              <c16:uniqueId val="{00000001-B395-4BF6-AF73-A206A8E3DAB4}"/>
            </c:ext>
          </c:extLst>
        </c:ser>
        <c:ser>
          <c:idx val="2"/>
          <c:order val="2"/>
          <c:tx>
            <c:strRef>
              <c:f>Sheet1!$D$1</c:f>
              <c:strCache>
                <c:ptCount val="1"/>
                <c:pt idx="0">
                  <c:v>Premium</c:v>
                </c:pt>
              </c:strCache>
            </c:strRef>
          </c:tx>
          <c:spPr>
            <a:solidFill>
              <a:srgbClr val="42D6A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FFFFFF"/>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MIDAGE SINGLES/COUPLES</c:v>
                </c:pt>
                <c:pt idx="1">
                  <c:v>NEW FAMILIES</c:v>
                </c:pt>
                <c:pt idx="2">
                  <c:v>OLDER FAMILIES</c:v>
                </c:pt>
                <c:pt idx="3">
                  <c:v>OLDER SINGLES/COUPLES</c:v>
                </c:pt>
                <c:pt idx="4">
                  <c:v>RETIREES</c:v>
                </c:pt>
                <c:pt idx="5">
                  <c:v>YOUNG FAMILIES</c:v>
                </c:pt>
                <c:pt idx="6">
                  <c:v>YOUNG SINGLES/COUPLES</c:v>
                </c:pt>
              </c:strCache>
            </c:strRef>
          </c:cat>
          <c:val>
            <c:numRef>
              <c:f>Sheet1!$D$2:$D$8</c:f>
              <c:numCache>
                <c:formatCode>0.00%</c:formatCode>
                <c:ptCount val="7"/>
                <c:pt idx="0">
                  <c:v>0.33169999999999999</c:v>
                </c:pt>
                <c:pt idx="1">
                  <c:v>0.23069999999999999</c:v>
                </c:pt>
                <c:pt idx="2">
                  <c:v>0.23169999999999999</c:v>
                </c:pt>
                <c:pt idx="3">
                  <c:v>0.32540000000000002</c:v>
                </c:pt>
                <c:pt idx="4">
                  <c:v>0.26190000000000002</c:v>
                </c:pt>
                <c:pt idx="5">
                  <c:v>0.26540000000000002</c:v>
                </c:pt>
                <c:pt idx="6">
                  <c:v>0.17660000000000001</c:v>
                </c:pt>
              </c:numCache>
            </c:numRef>
          </c:val>
          <c:extLst>
            <c:ext xmlns:c16="http://schemas.microsoft.com/office/drawing/2014/chart" uri="{C3380CC4-5D6E-409C-BE32-E72D297353CC}">
              <c16:uniqueId val="{00000002-B395-4BF6-AF73-A206A8E3DAB4}"/>
            </c:ext>
          </c:extLst>
        </c:ser>
        <c:dLbls>
          <c:showLegendKey val="0"/>
          <c:showVal val="0"/>
          <c:showCatName val="0"/>
          <c:showSerName val="0"/>
          <c:showPercent val="0"/>
          <c:showBubbleSize val="0"/>
        </c:dLbls>
        <c:gapWidth val="150"/>
        <c:overlap val="100"/>
        <c:axId val="1030153327"/>
        <c:axId val="1030155247"/>
      </c:barChart>
      <c:catAx>
        <c:axId val="10301533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000000"/>
                </a:solidFill>
                <a:latin typeface="+mn-lt"/>
                <a:ea typeface="+mn-ea"/>
                <a:cs typeface="+mn-cs"/>
              </a:defRPr>
            </a:pPr>
            <a:endParaRPr lang="en-US"/>
          </a:p>
        </c:txPr>
        <c:crossAx val="1030155247"/>
        <c:crosses val="autoZero"/>
        <c:auto val="1"/>
        <c:lblAlgn val="ctr"/>
        <c:lblOffset val="100"/>
        <c:noMultiLvlLbl val="0"/>
      </c:catAx>
      <c:valAx>
        <c:axId val="1030155247"/>
        <c:scaling>
          <c:orientation val="minMax"/>
          <c:max val="1"/>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0000"/>
                </a:solidFill>
                <a:latin typeface="+mn-lt"/>
                <a:ea typeface="+mn-ea"/>
                <a:cs typeface="+mn-cs"/>
              </a:defRPr>
            </a:pPr>
            <a:endParaRPr lang="en-US"/>
          </a:p>
        </c:txPr>
        <c:crossAx val="1030153327"/>
        <c:crosses val="autoZero"/>
        <c:crossBetween val="between"/>
        <c:majorUnit val="0.2"/>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control store</c:v>
                </c:pt>
              </c:strCache>
            </c:strRef>
          </c:tx>
          <c:spPr>
            <a:ln w="28575" cap="rnd">
              <a:solidFill>
                <a:srgbClr val="3E5F9B"/>
              </a:solidFill>
              <a:round/>
            </a:ln>
            <a:effectLst/>
          </c:spPr>
          <c:marker>
            <c:symbol val="none"/>
          </c:marker>
          <c:cat>
            <c:strRef>
              <c:extLst>
                <c:ext xmlns:c15="http://schemas.microsoft.com/office/drawing/2012/chart" uri="{02D57815-91ED-43cb-92C2-25804820EDAC}">
                  <c15:fullRef>
                    <c15:sqref>Sheet1!$A$2:$A$25</c15:sqref>
                  </c15:fullRef>
                </c:ext>
              </c:extLst>
              <c:f>Sheet1!$A$2:$A$9</c:f>
              <c:strCache>
                <c:ptCount val="8"/>
                <c:pt idx="0">
                  <c:v>2018-07</c:v>
                </c:pt>
                <c:pt idx="1">
                  <c:v>2018-08</c:v>
                </c:pt>
                <c:pt idx="2">
                  <c:v>2018-09</c:v>
                </c:pt>
                <c:pt idx="3">
                  <c:v>2018-10</c:v>
                </c:pt>
                <c:pt idx="4">
                  <c:v>2018-11</c:v>
                </c:pt>
                <c:pt idx="5">
                  <c:v>2018-12</c:v>
                </c:pt>
                <c:pt idx="6">
                  <c:v>2019-01</c:v>
                </c:pt>
                <c:pt idx="7">
                  <c:v>2019-02</c:v>
                </c:pt>
              </c:strCache>
            </c:strRef>
          </c:cat>
          <c:val>
            <c:numRef>
              <c:extLst>
                <c:ext xmlns:c15="http://schemas.microsoft.com/office/drawing/2012/chart" uri="{02D57815-91ED-43cb-92C2-25804820EDAC}">
                  <c15:fullRef>
                    <c15:sqref>Sheet1!$B$2:$B$25</c15:sqref>
                  </c15:fullRef>
                </c:ext>
              </c:extLst>
              <c:f>Sheet1!$B$2:$B$9</c:f>
              <c:numCache>
                <c:formatCode>General</c:formatCode>
                <c:ptCount val="8"/>
                <c:pt idx="0">
                  <c:v>887.9</c:v>
                </c:pt>
                <c:pt idx="1">
                  <c:v>812.13333333333333</c:v>
                </c:pt>
                <c:pt idx="2">
                  <c:v>855.06666666666661</c:v>
                </c:pt>
                <c:pt idx="3">
                  <c:v>832.6</c:v>
                </c:pt>
                <c:pt idx="4">
                  <c:v>836</c:v>
                </c:pt>
                <c:pt idx="5">
                  <c:v>798.19999999999993</c:v>
                </c:pt>
                <c:pt idx="6">
                  <c:v>757.26666666666677</c:v>
                </c:pt>
                <c:pt idx="7">
                  <c:v>846.66666666666663</c:v>
                </c:pt>
              </c:numCache>
            </c:numRef>
          </c:val>
          <c:smooth val="0"/>
          <c:extLst>
            <c:ext xmlns:c16="http://schemas.microsoft.com/office/drawing/2014/chart" uri="{C3380CC4-5D6E-409C-BE32-E72D297353CC}">
              <c16:uniqueId val="{00000000-A290-4094-A943-28B177706D96}"/>
            </c:ext>
          </c:extLst>
        </c:ser>
        <c:ser>
          <c:idx val="1"/>
          <c:order val="1"/>
          <c:tx>
            <c:strRef>
              <c:f>Sheet1!$C$1</c:f>
              <c:strCache>
                <c:ptCount val="1"/>
                <c:pt idx="0">
                  <c:v>Trial Store</c:v>
                </c:pt>
              </c:strCache>
            </c:strRef>
          </c:tx>
          <c:spPr>
            <a:ln w="28575" cap="rnd">
              <a:solidFill>
                <a:srgbClr val="44BAC5"/>
              </a:solidFill>
              <a:round/>
            </a:ln>
            <a:effectLst/>
          </c:spPr>
          <c:marker>
            <c:symbol val="none"/>
          </c:marker>
          <c:cat>
            <c:strRef>
              <c:extLst>
                <c:ext xmlns:c15="http://schemas.microsoft.com/office/drawing/2012/chart" uri="{02D57815-91ED-43cb-92C2-25804820EDAC}">
                  <c15:fullRef>
                    <c15:sqref>Sheet1!$A$2:$A$25</c15:sqref>
                  </c15:fullRef>
                </c:ext>
              </c:extLst>
              <c:f>Sheet1!$A$2:$A$9</c:f>
              <c:strCache>
                <c:ptCount val="8"/>
                <c:pt idx="0">
                  <c:v>2018-07</c:v>
                </c:pt>
                <c:pt idx="1">
                  <c:v>2018-08</c:v>
                </c:pt>
                <c:pt idx="2">
                  <c:v>2018-09</c:v>
                </c:pt>
                <c:pt idx="3">
                  <c:v>2018-10</c:v>
                </c:pt>
                <c:pt idx="4">
                  <c:v>2018-11</c:v>
                </c:pt>
                <c:pt idx="5">
                  <c:v>2018-12</c:v>
                </c:pt>
                <c:pt idx="6">
                  <c:v>2019-01</c:v>
                </c:pt>
                <c:pt idx="7">
                  <c:v>2019-02</c:v>
                </c:pt>
              </c:strCache>
            </c:strRef>
          </c:cat>
          <c:val>
            <c:numRef>
              <c:extLst>
                <c:ext xmlns:c15="http://schemas.microsoft.com/office/drawing/2012/chart" uri="{02D57815-91ED-43cb-92C2-25804820EDAC}">
                  <c15:fullRef>
                    <c15:sqref>Sheet1!$C$2:$C$25</c15:sqref>
                  </c15:fullRef>
                </c:ext>
              </c:extLst>
              <c:f>Sheet1!$C$2:$C$9</c:f>
              <c:numCache>
                <c:formatCode>General</c:formatCode>
                <c:ptCount val="8"/>
                <c:pt idx="0">
                  <c:v>833</c:v>
                </c:pt>
                <c:pt idx="1">
                  <c:v>781.11666666666667</c:v>
                </c:pt>
                <c:pt idx="2">
                  <c:v>854.26666666666677</c:v>
                </c:pt>
                <c:pt idx="3">
                  <c:v>835.1</c:v>
                </c:pt>
                <c:pt idx="4">
                  <c:v>848.69999999999993</c:v>
                </c:pt>
                <c:pt idx="5">
                  <c:v>811.23333333333323</c:v>
                </c:pt>
                <c:pt idx="6">
                  <c:v>770.73333333333323</c:v>
                </c:pt>
                <c:pt idx="7">
                  <c:v>839.4666666666667</c:v>
                </c:pt>
              </c:numCache>
            </c:numRef>
          </c:val>
          <c:smooth val="0"/>
          <c:extLst>
            <c:ext xmlns:c16="http://schemas.microsoft.com/office/drawing/2014/chart" uri="{C3380CC4-5D6E-409C-BE32-E72D297353CC}">
              <c16:uniqueId val="{00000001-A290-4094-A943-28B177706D96}"/>
            </c:ext>
          </c:extLst>
        </c:ser>
        <c:ser>
          <c:idx val="2"/>
          <c:order val="2"/>
          <c:tx>
            <c:strRef>
              <c:f>Sheet1!$D$1</c:f>
              <c:strCache>
                <c:ptCount val="1"/>
                <c:pt idx="0">
                  <c:v>Other Stores</c:v>
                </c:pt>
              </c:strCache>
            </c:strRef>
          </c:tx>
          <c:spPr>
            <a:ln w="28575" cap="rnd">
              <a:solidFill>
                <a:srgbClr val="42D6A4"/>
              </a:solidFill>
              <a:round/>
            </a:ln>
            <a:effectLst/>
          </c:spPr>
          <c:marker>
            <c:symbol val="none"/>
          </c:marker>
          <c:cat>
            <c:strRef>
              <c:extLst>
                <c:ext xmlns:c15="http://schemas.microsoft.com/office/drawing/2012/chart" uri="{02D57815-91ED-43cb-92C2-25804820EDAC}">
                  <c15:fullRef>
                    <c15:sqref>Sheet1!$A$2:$A$25</c15:sqref>
                  </c15:fullRef>
                </c:ext>
              </c:extLst>
              <c:f>Sheet1!$A$2:$A$9</c:f>
              <c:strCache>
                <c:ptCount val="8"/>
                <c:pt idx="0">
                  <c:v>2018-07</c:v>
                </c:pt>
                <c:pt idx="1">
                  <c:v>2018-08</c:v>
                </c:pt>
                <c:pt idx="2">
                  <c:v>2018-09</c:v>
                </c:pt>
                <c:pt idx="3">
                  <c:v>2018-10</c:v>
                </c:pt>
                <c:pt idx="4">
                  <c:v>2018-11</c:v>
                </c:pt>
                <c:pt idx="5">
                  <c:v>2018-12</c:v>
                </c:pt>
                <c:pt idx="6">
                  <c:v>2019-01</c:v>
                </c:pt>
                <c:pt idx="7">
                  <c:v>2019-02</c:v>
                </c:pt>
              </c:strCache>
            </c:strRef>
          </c:cat>
          <c:val>
            <c:numRef>
              <c:extLst>
                <c:ext xmlns:c15="http://schemas.microsoft.com/office/drawing/2012/chart" uri="{02D57815-91ED-43cb-92C2-25804820EDAC}">
                  <c15:fullRef>
                    <c15:sqref>Sheet1!$D$2:$D$25</c15:sqref>
                  </c15:fullRef>
                </c:ext>
              </c:extLst>
              <c:f>Sheet1!$D$2:$D$9</c:f>
              <c:numCache>
                <c:formatCode>General</c:formatCode>
                <c:ptCount val="8"/>
                <c:pt idx="0">
                  <c:v>615.81769230769237</c:v>
                </c:pt>
                <c:pt idx="1">
                  <c:v>596.50311284046688</c:v>
                </c:pt>
                <c:pt idx="2">
                  <c:v>602.30232558139539</c:v>
                </c:pt>
                <c:pt idx="3">
                  <c:v>615.49266409266409</c:v>
                </c:pt>
                <c:pt idx="4">
                  <c:v>601.47131782945735</c:v>
                </c:pt>
                <c:pt idx="5">
                  <c:v>634.57237354085601</c:v>
                </c:pt>
                <c:pt idx="6">
                  <c:v>615.01284046692604</c:v>
                </c:pt>
                <c:pt idx="7">
                  <c:v>564.36666666666667</c:v>
                </c:pt>
              </c:numCache>
            </c:numRef>
          </c:val>
          <c:smooth val="0"/>
          <c:extLst>
            <c:ext xmlns:c16="http://schemas.microsoft.com/office/drawing/2014/chart" uri="{C3380CC4-5D6E-409C-BE32-E72D297353CC}">
              <c16:uniqueId val="{00000002-A290-4094-A943-28B177706D96}"/>
            </c:ext>
          </c:extLst>
        </c:ser>
        <c:dLbls>
          <c:showLegendKey val="0"/>
          <c:showVal val="0"/>
          <c:showCatName val="0"/>
          <c:showSerName val="0"/>
          <c:showPercent val="0"/>
          <c:showBubbleSize val="0"/>
        </c:dLbls>
        <c:smooth val="0"/>
        <c:axId val="926312783"/>
        <c:axId val="926320463"/>
      </c:lineChart>
      <c:catAx>
        <c:axId val="926312783"/>
        <c:scaling>
          <c:orientation val="minMax"/>
        </c:scaling>
        <c:delete val="0"/>
        <c:axPos val="b"/>
        <c:numFmt formatCode="@"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000000"/>
                </a:solidFill>
                <a:latin typeface="+mn-lt"/>
                <a:ea typeface="+mn-ea"/>
                <a:cs typeface="+mn-cs"/>
              </a:defRPr>
            </a:pPr>
            <a:endParaRPr lang="en-US"/>
          </a:p>
        </c:txPr>
        <c:crossAx val="926320463"/>
        <c:crosses val="autoZero"/>
        <c:auto val="1"/>
        <c:lblAlgn val="ctr"/>
        <c:lblOffset val="100"/>
        <c:noMultiLvlLbl val="0"/>
      </c:catAx>
      <c:valAx>
        <c:axId val="926320463"/>
        <c:scaling>
          <c:orientation val="minMax"/>
          <c:max val="900"/>
        </c:scaling>
        <c:delete val="0"/>
        <c:axPos val="l"/>
        <c:numFmt formatCode="[$$-409]#,##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0000"/>
                </a:solidFill>
                <a:latin typeface="+mn-lt"/>
                <a:ea typeface="+mn-ea"/>
                <a:cs typeface="+mn-cs"/>
              </a:defRPr>
            </a:pPr>
            <a:endParaRPr lang="en-US"/>
          </a:p>
        </c:txPr>
        <c:crossAx val="9263127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control_customers</c:v>
                </c:pt>
              </c:strCache>
            </c:strRef>
          </c:tx>
          <c:spPr>
            <a:ln w="28575" cap="rnd">
              <a:solidFill>
                <a:srgbClr val="3E5F9B"/>
              </a:solidFill>
              <a:round/>
            </a:ln>
            <a:effectLst/>
          </c:spPr>
          <c:marker>
            <c:symbol val="none"/>
          </c:marker>
          <c:cat>
            <c:strRef>
              <c:f>Sheet1!$A$2:$A$13</c:f>
              <c:strCache>
                <c:ptCount val="12"/>
                <c:pt idx="0">
                  <c:v>2018-07</c:v>
                </c:pt>
                <c:pt idx="1">
                  <c:v>2018-08</c:v>
                </c:pt>
                <c:pt idx="2">
                  <c:v>2018-09</c:v>
                </c:pt>
                <c:pt idx="3">
                  <c:v>2018-10</c:v>
                </c:pt>
                <c:pt idx="4">
                  <c:v>2018-11</c:v>
                </c:pt>
                <c:pt idx="5">
                  <c:v>2018-12</c:v>
                </c:pt>
                <c:pt idx="6">
                  <c:v>2019-01</c:v>
                </c:pt>
                <c:pt idx="7">
                  <c:v>2019-02</c:v>
                </c:pt>
                <c:pt idx="8">
                  <c:v>2019-03</c:v>
                </c:pt>
                <c:pt idx="9">
                  <c:v>2019-04</c:v>
                </c:pt>
                <c:pt idx="10">
                  <c:v>2019-05</c:v>
                </c:pt>
                <c:pt idx="11">
                  <c:v>2019-06</c:v>
                </c:pt>
              </c:strCache>
            </c:strRef>
          </c:cat>
          <c:val>
            <c:numRef>
              <c:f>Sheet1!$B$2:$B$13</c:f>
              <c:numCache>
                <c:formatCode>General</c:formatCode>
                <c:ptCount val="12"/>
                <c:pt idx="0">
                  <c:v>113</c:v>
                </c:pt>
                <c:pt idx="1">
                  <c:v>111.3333333333333</c:v>
                </c:pt>
                <c:pt idx="2">
                  <c:v>112.3333333333333</c:v>
                </c:pt>
                <c:pt idx="3">
                  <c:v>106.3333333333333</c:v>
                </c:pt>
                <c:pt idx="4">
                  <c:v>111.6666666666667</c:v>
                </c:pt>
                <c:pt idx="5">
                  <c:v>104.3333333333333</c:v>
                </c:pt>
                <c:pt idx="6">
                  <c:v>99.666666666666671</c:v>
                </c:pt>
                <c:pt idx="7">
                  <c:v>109.3333333333333</c:v>
                </c:pt>
                <c:pt idx="8">
                  <c:v>97.666666666666671</c:v>
                </c:pt>
                <c:pt idx="9">
                  <c:v>95.666666666666671</c:v>
                </c:pt>
                <c:pt idx="10">
                  <c:v>115.6666666666667</c:v>
                </c:pt>
                <c:pt idx="11">
                  <c:v>97.666666666666671</c:v>
                </c:pt>
              </c:numCache>
            </c:numRef>
          </c:val>
          <c:smooth val="0"/>
          <c:extLst>
            <c:ext xmlns:c16="http://schemas.microsoft.com/office/drawing/2014/chart" uri="{C3380CC4-5D6E-409C-BE32-E72D297353CC}">
              <c16:uniqueId val="{00000000-6B7E-4791-91A8-BF21300476E4}"/>
            </c:ext>
          </c:extLst>
        </c:ser>
        <c:ser>
          <c:idx val="1"/>
          <c:order val="1"/>
          <c:tx>
            <c:strRef>
              <c:f>Sheet1!$C$1</c:f>
              <c:strCache>
                <c:ptCount val="1"/>
                <c:pt idx="0">
                  <c:v>ci_lower_offset</c:v>
                </c:pt>
              </c:strCache>
            </c:strRef>
          </c:tx>
          <c:spPr>
            <a:ln w="28575" cap="rnd">
              <a:solidFill>
                <a:schemeClr val="accent2"/>
              </a:solidFill>
              <a:round/>
            </a:ln>
            <a:effectLst/>
          </c:spPr>
          <c:marker>
            <c:symbol val="none"/>
          </c:marker>
          <c:cat>
            <c:strRef>
              <c:f>Sheet1!$A$2:$A$13</c:f>
              <c:strCache>
                <c:ptCount val="12"/>
                <c:pt idx="0">
                  <c:v>2018-07</c:v>
                </c:pt>
                <c:pt idx="1">
                  <c:v>2018-08</c:v>
                </c:pt>
                <c:pt idx="2">
                  <c:v>2018-09</c:v>
                </c:pt>
                <c:pt idx="3">
                  <c:v>2018-10</c:v>
                </c:pt>
                <c:pt idx="4">
                  <c:v>2018-11</c:v>
                </c:pt>
                <c:pt idx="5">
                  <c:v>2018-12</c:v>
                </c:pt>
                <c:pt idx="6">
                  <c:v>2019-01</c:v>
                </c:pt>
                <c:pt idx="7">
                  <c:v>2019-02</c:v>
                </c:pt>
                <c:pt idx="8">
                  <c:v>2019-03</c:v>
                </c:pt>
                <c:pt idx="9">
                  <c:v>2019-04</c:v>
                </c:pt>
                <c:pt idx="10">
                  <c:v>2019-05</c:v>
                </c:pt>
                <c:pt idx="11">
                  <c:v>2019-06</c:v>
                </c:pt>
              </c:strCache>
            </c:strRef>
          </c:cat>
          <c:val>
            <c:numRef>
              <c:f>Sheet1!$C$2:$C$13</c:f>
              <c:numCache>
                <c:formatCode>General</c:formatCode>
                <c:ptCount val="12"/>
                <c:pt idx="0">
                  <c:v>92.199440573767532</c:v>
                </c:pt>
                <c:pt idx="1">
                  <c:v>97.580735803803393</c:v>
                </c:pt>
                <c:pt idx="2">
                  <c:v>98.436193600414072</c:v>
                </c:pt>
                <c:pt idx="3">
                  <c:v>103.10393325496661</c:v>
                </c:pt>
                <c:pt idx="4">
                  <c:v>105.83800929033031</c:v>
                </c:pt>
                <c:pt idx="5">
                  <c:v>82.077626927887763</c:v>
                </c:pt>
                <c:pt idx="6">
                  <c:v>95.147530874900013</c:v>
                </c:pt>
                <c:pt idx="7">
                  <c:v>95.1624649578457</c:v>
                </c:pt>
                <c:pt idx="8">
                  <c:v>83.825005690163763</c:v>
                </c:pt>
                <c:pt idx="9">
                  <c:v>93.808876249365056</c:v>
                </c:pt>
                <c:pt idx="10">
                  <c:v>79.115505167460142</c:v>
                </c:pt>
                <c:pt idx="11">
                  <c:v>83.161225782769051</c:v>
                </c:pt>
              </c:numCache>
            </c:numRef>
          </c:val>
          <c:smooth val="0"/>
          <c:extLst>
            <c:ext xmlns:c16="http://schemas.microsoft.com/office/drawing/2014/chart" uri="{C3380CC4-5D6E-409C-BE32-E72D297353CC}">
              <c16:uniqueId val="{00000001-6B7E-4791-91A8-BF21300476E4}"/>
            </c:ext>
          </c:extLst>
        </c:ser>
        <c:ser>
          <c:idx val="2"/>
          <c:order val="2"/>
          <c:tx>
            <c:strRef>
              <c:f>Sheet1!$D$1</c:f>
              <c:strCache>
                <c:ptCount val="1"/>
                <c:pt idx="0">
                  <c:v>ci_upper_offset</c:v>
                </c:pt>
              </c:strCache>
            </c:strRef>
          </c:tx>
          <c:spPr>
            <a:ln w="28575" cap="rnd">
              <a:solidFill>
                <a:srgbClr val="44BAC5"/>
              </a:solidFill>
              <a:round/>
            </a:ln>
            <a:effectLst/>
          </c:spPr>
          <c:marker>
            <c:symbol val="none"/>
          </c:marker>
          <c:cat>
            <c:strRef>
              <c:f>Sheet1!$A$2:$A$13</c:f>
              <c:strCache>
                <c:ptCount val="12"/>
                <c:pt idx="0">
                  <c:v>2018-07</c:v>
                </c:pt>
                <c:pt idx="1">
                  <c:v>2018-08</c:v>
                </c:pt>
                <c:pt idx="2">
                  <c:v>2018-09</c:v>
                </c:pt>
                <c:pt idx="3">
                  <c:v>2018-10</c:v>
                </c:pt>
                <c:pt idx="4">
                  <c:v>2018-11</c:v>
                </c:pt>
                <c:pt idx="5">
                  <c:v>2018-12</c:v>
                </c:pt>
                <c:pt idx="6">
                  <c:v>2019-01</c:v>
                </c:pt>
                <c:pt idx="7">
                  <c:v>2019-02</c:v>
                </c:pt>
                <c:pt idx="8">
                  <c:v>2019-03</c:v>
                </c:pt>
                <c:pt idx="9">
                  <c:v>2019-04</c:v>
                </c:pt>
                <c:pt idx="10">
                  <c:v>2019-05</c:v>
                </c:pt>
                <c:pt idx="11">
                  <c:v>2019-06</c:v>
                </c:pt>
              </c:strCache>
            </c:strRef>
          </c:cat>
          <c:val>
            <c:numRef>
              <c:f>Sheet1!$D$2:$D$13</c:f>
              <c:numCache>
                <c:formatCode>General</c:formatCode>
                <c:ptCount val="12"/>
                <c:pt idx="0">
                  <c:v>92.199440573767532</c:v>
                </c:pt>
                <c:pt idx="1">
                  <c:v>97.580735803803393</c:v>
                </c:pt>
                <c:pt idx="2">
                  <c:v>98.436193600414057</c:v>
                </c:pt>
                <c:pt idx="3">
                  <c:v>103.10393325496661</c:v>
                </c:pt>
                <c:pt idx="4">
                  <c:v>105.83800929033031</c:v>
                </c:pt>
                <c:pt idx="5">
                  <c:v>82.077626927887749</c:v>
                </c:pt>
                <c:pt idx="6">
                  <c:v>95.147530874899999</c:v>
                </c:pt>
                <c:pt idx="7">
                  <c:v>95.1624649578457</c:v>
                </c:pt>
                <c:pt idx="8">
                  <c:v>83.825005690163763</c:v>
                </c:pt>
                <c:pt idx="9">
                  <c:v>93.808876249365042</c:v>
                </c:pt>
                <c:pt idx="10">
                  <c:v>79.115505167460142</c:v>
                </c:pt>
                <c:pt idx="11">
                  <c:v>83.161225782769051</c:v>
                </c:pt>
              </c:numCache>
            </c:numRef>
          </c:val>
          <c:smooth val="0"/>
          <c:extLst>
            <c:ext xmlns:c16="http://schemas.microsoft.com/office/drawing/2014/chart" uri="{C3380CC4-5D6E-409C-BE32-E72D297353CC}">
              <c16:uniqueId val="{00000002-6B7E-4791-91A8-BF21300476E4}"/>
            </c:ext>
          </c:extLst>
        </c:ser>
        <c:ser>
          <c:idx val="3"/>
          <c:order val="3"/>
          <c:tx>
            <c:strRef>
              <c:f>Sheet1!$E$1</c:f>
              <c:strCache>
                <c:ptCount val="1"/>
                <c:pt idx="0">
                  <c:v>trial_customers</c:v>
                </c:pt>
              </c:strCache>
            </c:strRef>
          </c:tx>
          <c:spPr>
            <a:ln w="28575" cap="rnd">
              <a:solidFill>
                <a:srgbClr val="EACC77"/>
              </a:solidFill>
              <a:round/>
            </a:ln>
            <a:effectLst/>
          </c:spPr>
          <c:marker>
            <c:symbol val="none"/>
          </c:marker>
          <c:cat>
            <c:strRef>
              <c:f>Sheet1!$A$2:$A$13</c:f>
              <c:strCache>
                <c:ptCount val="12"/>
                <c:pt idx="0">
                  <c:v>2018-07</c:v>
                </c:pt>
                <c:pt idx="1">
                  <c:v>2018-08</c:v>
                </c:pt>
                <c:pt idx="2">
                  <c:v>2018-09</c:v>
                </c:pt>
                <c:pt idx="3">
                  <c:v>2018-10</c:v>
                </c:pt>
                <c:pt idx="4">
                  <c:v>2018-11</c:v>
                </c:pt>
                <c:pt idx="5">
                  <c:v>2018-12</c:v>
                </c:pt>
                <c:pt idx="6">
                  <c:v>2019-01</c:v>
                </c:pt>
                <c:pt idx="7">
                  <c:v>2019-02</c:v>
                </c:pt>
                <c:pt idx="8">
                  <c:v>2019-03</c:v>
                </c:pt>
                <c:pt idx="9">
                  <c:v>2019-04</c:v>
                </c:pt>
                <c:pt idx="10">
                  <c:v>2019-05</c:v>
                </c:pt>
                <c:pt idx="11">
                  <c:v>2019-06</c:v>
                </c:pt>
              </c:strCache>
            </c:strRef>
          </c:cat>
          <c:val>
            <c:numRef>
              <c:f>Sheet1!$E$2:$E$13</c:f>
              <c:numCache>
                <c:formatCode>General</c:formatCode>
                <c:ptCount val="12"/>
                <c:pt idx="0">
                  <c:v>111.3333333333333</c:v>
                </c:pt>
                <c:pt idx="1">
                  <c:v>105.3333333333333</c:v>
                </c:pt>
                <c:pt idx="2">
                  <c:v>109.6666666666667</c:v>
                </c:pt>
                <c:pt idx="3">
                  <c:v>110.3333333333333</c:v>
                </c:pt>
                <c:pt idx="4">
                  <c:v>108.3333333333333</c:v>
                </c:pt>
                <c:pt idx="5">
                  <c:v>105.3333333333333</c:v>
                </c:pt>
                <c:pt idx="6">
                  <c:v>104</c:v>
                </c:pt>
                <c:pt idx="7">
                  <c:v>112</c:v>
                </c:pt>
                <c:pt idx="8">
                  <c:v>121.3333333333333</c:v>
                </c:pt>
                <c:pt idx="9">
                  <c:v>112</c:v>
                </c:pt>
                <c:pt idx="10">
                  <c:v>112.6666666666667</c:v>
                </c:pt>
                <c:pt idx="11">
                  <c:v>102.6666666666667</c:v>
                </c:pt>
              </c:numCache>
            </c:numRef>
          </c:val>
          <c:smooth val="0"/>
          <c:extLst>
            <c:ext xmlns:c16="http://schemas.microsoft.com/office/drawing/2014/chart" uri="{C3380CC4-5D6E-409C-BE32-E72D297353CC}">
              <c16:uniqueId val="{00000003-6B7E-4791-91A8-BF21300476E4}"/>
            </c:ext>
          </c:extLst>
        </c:ser>
        <c:dLbls>
          <c:showLegendKey val="0"/>
          <c:showVal val="0"/>
          <c:showCatName val="0"/>
          <c:showSerName val="0"/>
          <c:showPercent val="0"/>
          <c:showBubbleSize val="0"/>
        </c:dLbls>
        <c:smooth val="0"/>
        <c:axId val="1479204335"/>
        <c:axId val="1479231695"/>
      </c:lineChart>
      <c:catAx>
        <c:axId val="14792043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000000"/>
                </a:solidFill>
                <a:latin typeface="+mn-lt"/>
                <a:ea typeface="+mn-ea"/>
                <a:cs typeface="+mn-cs"/>
              </a:defRPr>
            </a:pPr>
            <a:endParaRPr lang="en-US"/>
          </a:p>
        </c:txPr>
        <c:crossAx val="1479231695"/>
        <c:crosses val="autoZero"/>
        <c:auto val="1"/>
        <c:lblAlgn val="ctr"/>
        <c:lblOffset val="100"/>
        <c:noMultiLvlLbl val="0"/>
      </c:catAx>
      <c:valAx>
        <c:axId val="147923169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0000"/>
                </a:solidFill>
                <a:latin typeface="+mn-lt"/>
                <a:ea typeface="+mn-ea"/>
                <a:cs typeface="+mn-cs"/>
              </a:defRPr>
            </a:pPr>
            <a:endParaRPr lang="en-US"/>
          </a:p>
        </c:txPr>
        <c:crossAx val="14792043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rgbClr val="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1">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0.71409</cdr:x>
      <cdr:y>0.73708</cdr:y>
    </cdr:from>
    <cdr:to>
      <cdr:x>0.97786</cdr:x>
      <cdr:y>0.9191</cdr:y>
    </cdr:to>
    <cdr:sp macro="" textlink="">
      <cdr:nvSpPr>
        <cdr:cNvPr id="2" name="TextBox 1">
          <a:extLst xmlns:a="http://schemas.openxmlformats.org/drawingml/2006/main">
            <a:ext uri="{FF2B5EF4-FFF2-40B4-BE49-F238E27FC236}">
              <a16:creationId xmlns:a16="http://schemas.microsoft.com/office/drawing/2014/main" id="{8219B844-007A-A8A2-297E-032645547DA5}"/>
            </a:ext>
          </a:extLst>
        </cdr:cNvPr>
        <cdr:cNvSpPr txBox="1"/>
      </cdr:nvSpPr>
      <cdr:spPr>
        <a:xfrm xmlns:a="http://schemas.openxmlformats.org/drawingml/2006/main">
          <a:off x="7483365" y="3447393"/>
          <a:ext cx="2764221" cy="851338"/>
        </a:xfrm>
        <a:prstGeom xmlns:a="http://schemas.openxmlformats.org/drawingml/2006/main" prst="rect">
          <a:avLst/>
        </a:prstGeom>
        <a:noFill xmlns:a="http://schemas.openxmlformats.org/drawingml/2006/main"/>
      </cdr:spPr>
      <cdr:txBody>
        <a:bodyPr xmlns:a="http://schemas.openxmlformats.org/drawingml/2006/main" vertOverflow="clip" wrap="square" lIns="0" tIns="0" rIns="0" bIns="0" rtlCol="0" anchor="t">
          <a:noAutofit/>
        </a:bodyPr>
        <a:lstStyle xmlns:a="http://schemas.openxmlformats.org/drawingml/2006/main"/>
        <a:p xmlns:a="http://schemas.openxmlformats.org/drawingml/2006/main">
          <a:pPr algn="l"/>
          <a:r>
            <a:rPr lang="en-US" sz="1400" dirty="0">
              <a:latin typeface="Roboto" panose="02000000000000000000" pitchFamily="2" charset="0"/>
              <a:ea typeface="Roboto" panose="02000000000000000000" pitchFamily="2" charset="0"/>
              <a:cs typeface="Roboto" panose="02000000000000000000" pitchFamily="2" charset="0"/>
            </a:rPr>
            <a:t>February transactions were lower due to reduced trading days following the Christmas period.</a:t>
          </a:r>
          <a:endParaRPr lang="en-IN" sz="1400" kern="1200" dirty="0" err="1">
            <a:latin typeface="Roboto" panose="02000000000000000000" pitchFamily="2" charset="0"/>
            <a:ea typeface="Roboto" panose="02000000000000000000" pitchFamily="2" charset="0"/>
            <a:cs typeface="Roboto" panose="02000000000000000000" pitchFamily="2" charset="0"/>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0.34602</cdr:x>
      <cdr:y>0.93739</cdr:y>
    </cdr:from>
    <cdr:to>
      <cdr:x>0.43474</cdr:x>
      <cdr:y>0.98262</cdr:y>
    </cdr:to>
    <cdr:sp macro="" textlink="">
      <cdr:nvSpPr>
        <cdr:cNvPr id="2" name="TextBox 1">
          <a:extLst xmlns:a="http://schemas.openxmlformats.org/drawingml/2006/main">
            <a:ext uri="{FF2B5EF4-FFF2-40B4-BE49-F238E27FC236}">
              <a16:creationId xmlns:a16="http://schemas.microsoft.com/office/drawing/2014/main" id="{D28152D7-B2BA-5F1B-244C-79987DF52484}"/>
            </a:ext>
          </a:extLst>
        </cdr:cNvPr>
        <cdr:cNvSpPr txBox="1"/>
      </cdr:nvSpPr>
      <cdr:spPr>
        <a:xfrm xmlns:a="http://schemas.openxmlformats.org/drawingml/2006/main">
          <a:off x="3976063" y="5010980"/>
          <a:ext cx="1019504" cy="241739"/>
        </a:xfrm>
        <a:prstGeom xmlns:a="http://schemas.openxmlformats.org/drawingml/2006/main" prst="rect">
          <a:avLst/>
        </a:prstGeom>
        <a:solidFill xmlns:a="http://schemas.openxmlformats.org/drawingml/2006/main">
          <a:srgbClr val="3E5F9B"/>
        </a:solidFill>
      </cdr:spPr>
      <cdr:txBody>
        <a:bodyPr xmlns:a="http://schemas.openxmlformats.org/drawingml/2006/main" vertOverflow="clip" wrap="none" lIns="0" tIns="0" rIns="0" bIns="0" rtlCol="0" anchor="t">
          <a:noAutofit/>
        </a:bodyPr>
        <a:lstStyle xmlns:a="http://schemas.openxmlformats.org/drawingml/2006/main"/>
        <a:p xmlns:a="http://schemas.openxmlformats.org/drawingml/2006/main">
          <a:pPr algn="ctr"/>
          <a:r>
            <a:rPr lang="en-US" sz="1200" b="1" kern="1200" dirty="0">
              <a:solidFill>
                <a:schemeClr val="bg1"/>
              </a:solidFill>
              <a:latin typeface="Roboto" panose="02000000000000000000" pitchFamily="2" charset="0"/>
              <a:ea typeface="Roboto" panose="02000000000000000000" pitchFamily="2" charset="0"/>
              <a:cs typeface="Roboto" panose="02000000000000000000" pitchFamily="2" charset="0"/>
            </a:rPr>
            <a:t>BUDGET</a:t>
          </a:r>
          <a:endParaRPr lang="en-IN" sz="1200" b="1" kern="1200" dirty="0" err="1">
            <a:solidFill>
              <a:schemeClr val="bg1"/>
            </a:solidFill>
            <a:latin typeface="Roboto" panose="02000000000000000000" pitchFamily="2" charset="0"/>
            <a:ea typeface="Roboto" panose="02000000000000000000" pitchFamily="2" charset="0"/>
            <a:cs typeface="Roboto" panose="02000000000000000000" pitchFamily="2" charset="0"/>
          </a:endParaRPr>
        </a:p>
      </cdr:txBody>
    </cdr:sp>
  </cdr:relSizeAnchor>
  <cdr:relSizeAnchor xmlns:cdr="http://schemas.openxmlformats.org/drawingml/2006/chartDrawing">
    <cdr:from>
      <cdr:x>0.44297</cdr:x>
      <cdr:y>0.93543</cdr:y>
    </cdr:from>
    <cdr:to>
      <cdr:x>0.53352</cdr:x>
      <cdr:y>0.98262</cdr:y>
    </cdr:to>
    <cdr:sp macro="" textlink="">
      <cdr:nvSpPr>
        <cdr:cNvPr id="3" name="TextBox 2">
          <a:extLst xmlns:a="http://schemas.openxmlformats.org/drawingml/2006/main">
            <a:ext uri="{FF2B5EF4-FFF2-40B4-BE49-F238E27FC236}">
              <a16:creationId xmlns:a16="http://schemas.microsoft.com/office/drawing/2014/main" id="{8D77308B-D0E9-F391-4F55-33866A2F6C47}"/>
            </a:ext>
          </a:extLst>
        </cdr:cNvPr>
        <cdr:cNvSpPr txBox="1"/>
      </cdr:nvSpPr>
      <cdr:spPr>
        <a:xfrm xmlns:a="http://schemas.openxmlformats.org/drawingml/2006/main">
          <a:off x="5090159" y="5000471"/>
          <a:ext cx="1040524" cy="252248"/>
        </a:xfrm>
        <a:prstGeom xmlns:a="http://schemas.openxmlformats.org/drawingml/2006/main" prst="rect">
          <a:avLst/>
        </a:prstGeom>
        <a:solidFill xmlns:a="http://schemas.openxmlformats.org/drawingml/2006/main">
          <a:srgbClr val="44BAC5"/>
        </a:solidFill>
      </cdr:spPr>
      <cdr:txBody>
        <a:bodyPr xmlns:a="http://schemas.openxmlformats.org/drawingml/2006/main" vertOverflow="clip" wrap="none" lIns="0" tIns="0" rIns="0" bIns="0" rtlCol="0" anchor="t">
          <a:noAutofit/>
        </a:bodyPr>
        <a:lstStyle xmlns:a="http://schemas.openxmlformats.org/drawingml/2006/main"/>
        <a:p xmlns:a="http://schemas.openxmlformats.org/drawingml/2006/main">
          <a:pPr algn="ctr"/>
          <a:r>
            <a:rPr lang="en-US" sz="1200" b="1" kern="1200" dirty="0">
              <a:solidFill>
                <a:schemeClr val="bg1"/>
              </a:solidFill>
              <a:latin typeface="Roboto" panose="02000000000000000000" pitchFamily="2" charset="0"/>
              <a:ea typeface="Roboto" panose="02000000000000000000" pitchFamily="2" charset="0"/>
              <a:cs typeface="Roboto" panose="02000000000000000000" pitchFamily="2" charset="0"/>
            </a:rPr>
            <a:t>MAINSTREAM</a:t>
          </a:r>
          <a:endParaRPr lang="en-IN" sz="1200" b="1" kern="1200" dirty="0" err="1">
            <a:solidFill>
              <a:schemeClr val="bg1"/>
            </a:solidFill>
            <a:latin typeface="Roboto" panose="02000000000000000000" pitchFamily="2" charset="0"/>
            <a:ea typeface="Roboto" panose="02000000000000000000" pitchFamily="2" charset="0"/>
            <a:cs typeface="Roboto" panose="02000000000000000000" pitchFamily="2" charset="0"/>
          </a:endParaRPr>
        </a:p>
      </cdr:txBody>
    </cdr:sp>
  </cdr:relSizeAnchor>
  <cdr:relSizeAnchor xmlns:cdr="http://schemas.openxmlformats.org/drawingml/2006/chartDrawing">
    <cdr:from>
      <cdr:x>0.54084</cdr:x>
      <cdr:y>0.93543</cdr:y>
    </cdr:from>
    <cdr:to>
      <cdr:x>0.64145</cdr:x>
      <cdr:y>0.98262</cdr:y>
    </cdr:to>
    <cdr:sp macro="" textlink="">
      <cdr:nvSpPr>
        <cdr:cNvPr id="4" name="TextBox 3">
          <a:extLst xmlns:a="http://schemas.openxmlformats.org/drawingml/2006/main">
            <a:ext uri="{FF2B5EF4-FFF2-40B4-BE49-F238E27FC236}">
              <a16:creationId xmlns:a16="http://schemas.microsoft.com/office/drawing/2014/main" id="{1AB3F702-31A9-040C-D03B-C447F0E4D7A6}"/>
            </a:ext>
          </a:extLst>
        </cdr:cNvPr>
        <cdr:cNvSpPr txBox="1"/>
      </cdr:nvSpPr>
      <cdr:spPr>
        <a:xfrm xmlns:a="http://schemas.openxmlformats.org/drawingml/2006/main">
          <a:off x="6214766" y="5000471"/>
          <a:ext cx="1156138" cy="252248"/>
        </a:xfrm>
        <a:prstGeom xmlns:a="http://schemas.openxmlformats.org/drawingml/2006/main" prst="rect">
          <a:avLst/>
        </a:prstGeom>
        <a:solidFill xmlns:a="http://schemas.openxmlformats.org/drawingml/2006/main">
          <a:srgbClr val="42D6A4"/>
        </a:solidFill>
      </cdr:spPr>
      <cdr:txBody>
        <a:bodyPr xmlns:a="http://schemas.openxmlformats.org/drawingml/2006/main" vertOverflow="clip" wrap="none" lIns="0" tIns="0" rIns="0" bIns="0" rtlCol="0" anchor="t">
          <a:noAutofit/>
        </a:bodyPr>
        <a:lstStyle xmlns:a="http://schemas.openxmlformats.org/drawingml/2006/main"/>
        <a:p xmlns:a="http://schemas.openxmlformats.org/drawingml/2006/main">
          <a:pPr algn="ctr"/>
          <a:r>
            <a:rPr lang="en-US" sz="1200" b="1" kern="1200" dirty="0">
              <a:solidFill>
                <a:schemeClr val="bg1"/>
              </a:solidFill>
              <a:latin typeface="Roboto" panose="02000000000000000000" pitchFamily="2" charset="0"/>
              <a:ea typeface="Roboto" panose="02000000000000000000" pitchFamily="2" charset="0"/>
              <a:cs typeface="Roboto" panose="02000000000000000000" pitchFamily="2" charset="0"/>
            </a:rPr>
            <a:t>PREMIUM</a:t>
          </a:r>
          <a:endParaRPr lang="en-IN" sz="1200" b="1" kern="1200" dirty="0" err="1">
            <a:solidFill>
              <a:schemeClr val="bg1"/>
            </a:solidFill>
            <a:latin typeface="Roboto" panose="02000000000000000000" pitchFamily="2" charset="0"/>
            <a:ea typeface="Roboto" panose="02000000000000000000" pitchFamily="2" charset="0"/>
            <a:cs typeface="Roboto" panose="02000000000000000000" pitchFamily="2" charset="0"/>
          </a:endParaRPr>
        </a:p>
      </cdr:txBody>
    </cdr:sp>
  </cdr:relSizeAnchor>
  <cdr:relSizeAnchor xmlns:cdr="http://schemas.openxmlformats.org/drawingml/2006/chartDrawing">
    <cdr:from>
      <cdr:x>0.05143</cdr:x>
      <cdr:y>0.21824</cdr:y>
    </cdr:from>
    <cdr:to>
      <cdr:x>0.07236</cdr:x>
      <cdr:y>0.59332</cdr:y>
    </cdr:to>
    <cdr:sp macro="" textlink="">
      <cdr:nvSpPr>
        <cdr:cNvPr id="5" name="TextBox 4">
          <a:extLst xmlns:a="http://schemas.openxmlformats.org/drawingml/2006/main">
            <a:ext uri="{FF2B5EF4-FFF2-40B4-BE49-F238E27FC236}">
              <a16:creationId xmlns:a16="http://schemas.microsoft.com/office/drawing/2014/main" id="{75774F61-E785-EBF6-31D0-6D27374E6408}"/>
            </a:ext>
          </a:extLst>
        </cdr:cNvPr>
        <cdr:cNvSpPr txBox="1"/>
      </cdr:nvSpPr>
      <cdr:spPr>
        <a:xfrm xmlns:a="http://schemas.openxmlformats.org/drawingml/2006/main" rot="16200000">
          <a:off x="-291278" y="2048895"/>
          <a:ext cx="2005026" cy="240530"/>
        </a:xfrm>
        <a:prstGeom xmlns:a="http://schemas.openxmlformats.org/drawingml/2006/main" prst="rect">
          <a:avLst/>
        </a:prstGeom>
        <a:noFill xmlns:a="http://schemas.openxmlformats.org/drawingml/2006/main"/>
      </cdr:spPr>
      <cdr:txBody>
        <a:bodyPr xmlns:a="http://schemas.openxmlformats.org/drawingml/2006/main" vertOverflow="clip" wrap="none" lIns="0" tIns="0" rIns="0" bIns="0" rtlCol="0" anchor="t">
          <a:noAutofit/>
        </a:bodyPr>
        <a:lstStyle xmlns:a="http://schemas.openxmlformats.org/drawingml/2006/main"/>
        <a:p xmlns:a="http://schemas.openxmlformats.org/drawingml/2006/main">
          <a:pPr algn="ctr"/>
          <a:r>
            <a:rPr lang="en-US" sz="1000" kern="1200" dirty="0">
              <a:latin typeface="Roboto" panose="02000000000000000000" pitchFamily="2" charset="0"/>
              <a:ea typeface="Roboto" panose="02000000000000000000" pitchFamily="2" charset="0"/>
              <a:cs typeface="Roboto" panose="02000000000000000000" pitchFamily="2" charset="0"/>
            </a:rPr>
            <a:t>Avg units per customer</a:t>
          </a:r>
          <a:endParaRPr lang="en-IN" sz="1000" kern="1200" dirty="0" err="1">
            <a:latin typeface="Roboto" panose="02000000000000000000" pitchFamily="2" charset="0"/>
            <a:ea typeface="Roboto" panose="02000000000000000000" pitchFamily="2" charset="0"/>
            <a:cs typeface="Roboto" panose="02000000000000000000" pitchFamily="2" charset="0"/>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0.38807</cdr:x>
      <cdr:y>0.93936</cdr:y>
    </cdr:from>
    <cdr:to>
      <cdr:x>0.44679</cdr:x>
      <cdr:y>0.98425</cdr:y>
    </cdr:to>
    <cdr:sp macro="" textlink="">
      <cdr:nvSpPr>
        <cdr:cNvPr id="2" name="TextBox 1">
          <a:extLst xmlns:a="http://schemas.openxmlformats.org/drawingml/2006/main">
            <a:ext uri="{FF2B5EF4-FFF2-40B4-BE49-F238E27FC236}">
              <a16:creationId xmlns:a16="http://schemas.microsoft.com/office/drawing/2014/main" id="{5F4E8F60-0F90-C113-A5F1-D1142CAC9C95}"/>
            </a:ext>
          </a:extLst>
        </cdr:cNvPr>
        <cdr:cNvSpPr txBox="1"/>
      </cdr:nvSpPr>
      <cdr:spPr>
        <a:xfrm xmlns:a="http://schemas.openxmlformats.org/drawingml/2006/main">
          <a:off x="4445874" y="5015468"/>
          <a:ext cx="672663" cy="239701"/>
        </a:xfrm>
        <a:prstGeom xmlns:a="http://schemas.openxmlformats.org/drawingml/2006/main" prst="rect">
          <a:avLst/>
        </a:prstGeom>
        <a:solidFill xmlns:a="http://schemas.openxmlformats.org/drawingml/2006/main">
          <a:srgbClr val="3E5F9B"/>
        </a:solidFill>
      </cdr:spPr>
      <cdr:txBody>
        <a:bodyPr xmlns:a="http://schemas.openxmlformats.org/drawingml/2006/main" vertOverflow="clip" wrap="none" lIns="0" tIns="0" rIns="0" bIns="0" rtlCol="0" anchor="t">
          <a:noAutofit/>
        </a:bodyPr>
        <a:lstStyle xmlns:a="http://schemas.openxmlformats.org/drawingml/2006/main"/>
        <a:p xmlns:a="http://schemas.openxmlformats.org/drawingml/2006/main">
          <a:pPr algn="ctr"/>
          <a:r>
            <a:rPr lang="en-US" sz="1200" kern="1200" dirty="0">
              <a:solidFill>
                <a:srgbClr val="FFFFFF"/>
              </a:solidFill>
              <a:latin typeface="Roboto" panose="02000000000000000000" pitchFamily="2" charset="0"/>
              <a:ea typeface="Roboto" panose="02000000000000000000" pitchFamily="2" charset="0"/>
              <a:cs typeface="Roboto" panose="02000000000000000000" pitchFamily="2" charset="0"/>
            </a:rPr>
            <a:t>Budget</a:t>
          </a:r>
          <a:endParaRPr lang="en-IN" sz="1200" kern="1200" dirty="0" err="1">
            <a:latin typeface="Roboto" panose="02000000000000000000" pitchFamily="2" charset="0"/>
            <a:ea typeface="Roboto" panose="02000000000000000000" pitchFamily="2" charset="0"/>
            <a:cs typeface="Roboto" panose="02000000000000000000" pitchFamily="2" charset="0"/>
          </a:endParaRPr>
        </a:p>
      </cdr:txBody>
    </cdr:sp>
  </cdr:relSizeAnchor>
  <cdr:relSizeAnchor xmlns:cdr="http://schemas.openxmlformats.org/drawingml/2006/chartDrawing">
    <cdr:from>
      <cdr:x>0.45046</cdr:x>
      <cdr:y>0.93741</cdr:y>
    </cdr:from>
    <cdr:to>
      <cdr:x>0.53578</cdr:x>
      <cdr:y>0.98228</cdr:y>
    </cdr:to>
    <cdr:sp macro="" textlink="">
      <cdr:nvSpPr>
        <cdr:cNvPr id="3" name="TextBox 2">
          <a:extLst xmlns:a="http://schemas.openxmlformats.org/drawingml/2006/main">
            <a:ext uri="{FF2B5EF4-FFF2-40B4-BE49-F238E27FC236}">
              <a16:creationId xmlns:a16="http://schemas.microsoft.com/office/drawing/2014/main" id="{3BD25948-7CF8-133D-18A0-131B7FE42D16}"/>
            </a:ext>
          </a:extLst>
        </cdr:cNvPr>
        <cdr:cNvSpPr txBox="1"/>
      </cdr:nvSpPr>
      <cdr:spPr>
        <a:xfrm xmlns:a="http://schemas.openxmlformats.org/drawingml/2006/main">
          <a:off x="5160578" y="5005083"/>
          <a:ext cx="977463" cy="239577"/>
        </a:xfrm>
        <a:prstGeom xmlns:a="http://schemas.openxmlformats.org/drawingml/2006/main" prst="rect">
          <a:avLst/>
        </a:prstGeom>
        <a:solidFill xmlns:a="http://schemas.openxmlformats.org/drawingml/2006/main">
          <a:srgbClr val="44BAC5"/>
        </a:solidFill>
      </cdr:spPr>
      <cdr:txBody>
        <a:bodyPr xmlns:a="http://schemas.openxmlformats.org/drawingml/2006/main" vertOverflow="clip" wrap="none" lIns="0" tIns="0" rIns="0" bIns="0" rtlCol="0" anchor="t">
          <a:noAutofit/>
        </a:bodyPr>
        <a:lstStyle xmlns:a="http://schemas.openxmlformats.org/drawingml/2006/main"/>
        <a:p xmlns:a="http://schemas.openxmlformats.org/drawingml/2006/main">
          <a:pPr algn="ctr"/>
          <a:r>
            <a:rPr lang="en-US" sz="1200" kern="1200" dirty="0">
              <a:solidFill>
                <a:srgbClr val="FFFFFF"/>
              </a:solidFill>
              <a:latin typeface="Roboto" panose="02000000000000000000" pitchFamily="2" charset="0"/>
              <a:ea typeface="Roboto" panose="02000000000000000000" pitchFamily="2" charset="0"/>
              <a:cs typeface="Roboto" panose="02000000000000000000" pitchFamily="2" charset="0"/>
            </a:rPr>
            <a:t>Mainstream</a:t>
          </a:r>
          <a:endParaRPr lang="en-IN" sz="1200" kern="1200" dirty="0" err="1">
            <a:solidFill>
              <a:srgbClr val="FFFFFF"/>
            </a:solidFill>
            <a:latin typeface="Roboto" panose="02000000000000000000" pitchFamily="2" charset="0"/>
            <a:ea typeface="Roboto" panose="02000000000000000000" pitchFamily="2" charset="0"/>
            <a:cs typeface="Roboto" panose="02000000000000000000" pitchFamily="2" charset="0"/>
          </a:endParaRPr>
        </a:p>
      </cdr:txBody>
    </cdr:sp>
  </cdr:relSizeAnchor>
  <cdr:relSizeAnchor xmlns:cdr="http://schemas.openxmlformats.org/drawingml/2006/chartDrawing">
    <cdr:from>
      <cdr:x>0.53945</cdr:x>
      <cdr:y>0.93898</cdr:y>
    </cdr:from>
    <cdr:to>
      <cdr:x>0.61651</cdr:x>
      <cdr:y>0.98032</cdr:y>
    </cdr:to>
    <cdr:sp macro="" textlink="">
      <cdr:nvSpPr>
        <cdr:cNvPr id="4" name="TextBox 3">
          <a:extLst xmlns:a="http://schemas.openxmlformats.org/drawingml/2006/main">
            <a:ext uri="{FF2B5EF4-FFF2-40B4-BE49-F238E27FC236}">
              <a16:creationId xmlns:a16="http://schemas.microsoft.com/office/drawing/2014/main" id="{1CC3E76E-DFFD-89B3-F7A8-7CD6EB160509}"/>
            </a:ext>
          </a:extLst>
        </cdr:cNvPr>
        <cdr:cNvSpPr txBox="1"/>
      </cdr:nvSpPr>
      <cdr:spPr>
        <a:xfrm xmlns:a="http://schemas.openxmlformats.org/drawingml/2006/main">
          <a:off x="6180083" y="5013433"/>
          <a:ext cx="882869" cy="220718"/>
        </a:xfrm>
        <a:prstGeom xmlns:a="http://schemas.openxmlformats.org/drawingml/2006/main" prst="rect">
          <a:avLst/>
        </a:prstGeom>
        <a:solidFill xmlns:a="http://schemas.openxmlformats.org/drawingml/2006/main">
          <a:srgbClr val="42D6A4"/>
        </a:solidFill>
      </cdr:spPr>
      <cdr:txBody>
        <a:bodyPr xmlns:a="http://schemas.openxmlformats.org/drawingml/2006/main" vertOverflow="clip" wrap="none" lIns="0" tIns="0" rIns="0" bIns="0" rtlCol="0" anchor="t">
          <a:noAutofit/>
        </a:bodyPr>
        <a:lstStyle xmlns:a="http://schemas.openxmlformats.org/drawingml/2006/main"/>
        <a:p xmlns:a="http://schemas.openxmlformats.org/drawingml/2006/main">
          <a:pPr algn="ctr"/>
          <a:r>
            <a:rPr lang="en-US" sz="1200" kern="1200" dirty="0">
              <a:solidFill>
                <a:srgbClr val="FFFFFF"/>
              </a:solidFill>
              <a:latin typeface="Roboto" panose="02000000000000000000" pitchFamily="2" charset="0"/>
              <a:ea typeface="Roboto" panose="02000000000000000000" pitchFamily="2" charset="0"/>
              <a:cs typeface="Roboto" panose="02000000000000000000" pitchFamily="2" charset="0"/>
            </a:rPr>
            <a:t>Premium</a:t>
          </a:r>
          <a:endParaRPr lang="en-IN" sz="1200" kern="1200" dirty="0" err="1">
            <a:solidFill>
              <a:srgbClr val="FFFFFF"/>
            </a:solidFill>
            <a:latin typeface="Roboto" panose="02000000000000000000" pitchFamily="2" charset="0"/>
            <a:ea typeface="Roboto" panose="02000000000000000000" pitchFamily="2" charset="0"/>
            <a:cs typeface="Roboto" panose="02000000000000000000" pitchFamily="2" charset="0"/>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0.62836</cdr:x>
      <cdr:y>0.04683</cdr:y>
    </cdr:from>
    <cdr:to>
      <cdr:x>0.89898</cdr:x>
      <cdr:y>0.92116</cdr:y>
    </cdr:to>
    <cdr:sp macro="" textlink="">
      <cdr:nvSpPr>
        <cdr:cNvPr id="2" name="TextBox 1">
          <a:extLst xmlns:a="http://schemas.openxmlformats.org/drawingml/2006/main">
            <a:ext uri="{FF2B5EF4-FFF2-40B4-BE49-F238E27FC236}">
              <a16:creationId xmlns:a16="http://schemas.microsoft.com/office/drawing/2014/main" id="{104EED6C-DDA2-EAA8-A370-41FBA830C7E4}"/>
            </a:ext>
          </a:extLst>
        </cdr:cNvPr>
        <cdr:cNvSpPr txBox="1"/>
      </cdr:nvSpPr>
      <cdr:spPr>
        <a:xfrm xmlns:a="http://schemas.openxmlformats.org/drawingml/2006/main">
          <a:off x="7126014" y="237247"/>
          <a:ext cx="3069020" cy="4429345"/>
        </a:xfrm>
        <a:prstGeom xmlns:a="http://schemas.openxmlformats.org/drawingml/2006/main" prst="rect">
          <a:avLst/>
        </a:prstGeom>
        <a:solidFill xmlns:a="http://schemas.openxmlformats.org/drawingml/2006/main">
          <a:schemeClr val="bg2">
            <a:lumMod val="90000"/>
            <a:alpha val="41000"/>
          </a:schemeClr>
        </a:solidFill>
      </cdr:spPr>
      <cdr:txBody>
        <a:bodyPr xmlns:a="http://schemas.openxmlformats.org/drawingml/2006/main" vertOverflow="clip" wrap="none" lIns="0" tIns="0" rIns="0" bIns="0" rtlCol="0" anchor="t">
          <a:noAutofit/>
        </a:bodyPr>
        <a:lstStyle xmlns:a="http://schemas.openxmlformats.org/drawingml/2006/main"/>
        <a:p xmlns:a="http://schemas.openxmlformats.org/drawingml/2006/main">
          <a:pPr algn="l"/>
          <a:endParaRPr lang="en-IN" sz="1200" kern="1200" dirty="0" err="1">
            <a:latin typeface="Roboto Light" panose="02000000000000000000" pitchFamily="2" charset="0"/>
            <a:ea typeface="Roboto Light" panose="02000000000000000000" pitchFamily="2" charset="0"/>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11/01/2026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4566AC9-2A0D-473B-9623-D34100E64E4F}" type="slidenum">
              <a:rPr lang="en-AU" smtClean="0"/>
              <a:t>9</a:t>
            </a:fld>
            <a:endParaRPr lang="en-AU" dirty="0"/>
          </a:p>
        </p:txBody>
      </p:sp>
    </p:spTree>
    <p:extLst>
      <p:ext uri="{BB962C8B-B14F-4D97-AF65-F5344CB8AC3E}">
        <p14:creationId xmlns:p14="http://schemas.microsoft.com/office/powerpoint/2010/main" val="17739597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11</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talltalesfromasmalltown.blogspot.com/2010/07/grocery-store-epiphany.html" TargetMode="External"/><Relationship Id="rId2" Type="http://schemas.openxmlformats.org/officeDocument/2006/relationships/image" Target="../media/image2.jpg"/><Relationship Id="rId1" Type="http://schemas.openxmlformats.org/officeDocument/2006/relationships/slideLayout" Target="../slideLayouts/slideLayout3.xml"/><Relationship Id="rId4" Type="http://schemas.openxmlformats.org/officeDocument/2006/relationships/hyperlink" Target="https://creativecommons.org/licenses/by-nc-nd/3.0/" TargetMode="Externa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s://pxhere.com/en/photo/186484" TargetMode="External"/><Relationship Id="rId2" Type="http://schemas.openxmlformats.org/officeDocument/2006/relationships/image" Target="../media/image6.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June 2020</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5" y="2002493"/>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Chip Category Review</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Trial Store Analysis</a:t>
            </a:r>
          </a:p>
        </p:txBody>
      </p:sp>
      <p:sp>
        <p:nvSpPr>
          <p:cNvPr id="7" name="TextBox 6">
            <a:extLst>
              <a:ext uri="{FF2B5EF4-FFF2-40B4-BE49-F238E27FC236}">
                <a16:creationId xmlns:a16="http://schemas.microsoft.com/office/drawing/2014/main" id="{7C949C27-3E05-4AA4-A1A8-5696F6F3C356}"/>
              </a:ext>
            </a:extLst>
          </p:cNvPr>
          <p:cNvSpPr txBox="1"/>
          <p:nvPr/>
        </p:nvSpPr>
        <p:spPr>
          <a:xfrm>
            <a:off x="4084607" y="1967886"/>
            <a:ext cx="7580989" cy="1461114"/>
          </a:xfrm>
          <a:prstGeom prst="rect">
            <a:avLst/>
          </a:prstGeom>
          <a:noFill/>
        </p:spPr>
        <p:txBody>
          <a:bodyPr wrap="square" lIns="0" tIns="0" rIns="0" bIns="0" rtlCol="0" anchor="t">
            <a:noAutofit/>
          </a:bodyPr>
          <a:lstStyle/>
          <a:p>
            <a:pPr marL="285750" indent="-285750">
              <a:spcAft>
                <a:spcPts val="100"/>
              </a:spcAft>
              <a:buFont typeface="Wingdings" panose="05000000000000000000" pitchFamily="2" charset="2"/>
              <a:buChar char="Ø"/>
            </a:pPr>
            <a:r>
              <a:rPr lang="en-US" sz="1400" dirty="0">
                <a:latin typeface="Roboto" panose="02000000000000000000" pitchFamily="2" charset="0"/>
                <a:ea typeface="Roboto" panose="02000000000000000000" pitchFamily="2" charset="0"/>
                <a:cs typeface="Roboto" panose="02000000000000000000" pitchFamily="2" charset="0"/>
              </a:rPr>
              <a:t>Chip sales are concentrated among family and older life-stage customers, primarily driven by higher repeat purchasing rather than larger basket sizes.</a:t>
            </a:r>
          </a:p>
          <a:p>
            <a:pPr marL="285750" indent="-285750">
              <a:spcAft>
                <a:spcPts val="100"/>
              </a:spcAft>
              <a:buFont typeface="Wingdings" panose="05000000000000000000" pitchFamily="2" charset="2"/>
              <a:buChar char="Ø"/>
            </a:pPr>
            <a:r>
              <a:rPr lang="en-US" sz="1400" dirty="0">
                <a:latin typeface="Roboto" panose="02000000000000000000" pitchFamily="2" charset="0"/>
                <a:ea typeface="Roboto" panose="02000000000000000000" pitchFamily="2" charset="0"/>
                <a:cs typeface="Roboto" panose="02000000000000000000" pitchFamily="2" charset="0"/>
              </a:rPr>
              <a:t>Pack size and brand preferences remain stable across customer segments, indicating limited opportunity to drive growth through mix changes alone.</a:t>
            </a:r>
          </a:p>
          <a:p>
            <a:pPr marL="285750" indent="-285750">
              <a:spcAft>
                <a:spcPts val="100"/>
              </a:spcAft>
              <a:buFont typeface="Wingdings" panose="05000000000000000000" pitchFamily="2" charset="2"/>
              <a:buChar char="Ø"/>
            </a:pPr>
            <a:r>
              <a:rPr lang="en-US" sz="1400" dirty="0">
                <a:latin typeface="Roboto" panose="02000000000000000000" pitchFamily="2" charset="0"/>
                <a:ea typeface="Roboto" panose="02000000000000000000" pitchFamily="2" charset="0"/>
                <a:cs typeface="Roboto" panose="02000000000000000000" pitchFamily="2" charset="0"/>
              </a:rPr>
              <a:t>Purchase frequency varies meaningfully by life stage, making customer behavior a more effective growth lever than pricing or pack size.</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580989" cy="1917214"/>
          </a:xfrm>
          <a:prstGeom prst="rect">
            <a:avLst/>
          </a:prstGeom>
          <a:noFill/>
        </p:spPr>
        <p:txBody>
          <a:bodyPr wrap="square" lIns="0" tIns="0" rIns="0" bIns="0" rtlCol="0" anchor="t">
            <a:noAutofit/>
          </a:bodyPr>
          <a:lstStyle/>
          <a:p>
            <a:endParaRPr lang="en-US" sz="1200" b="1" dirty="0"/>
          </a:p>
          <a:p>
            <a:pPr marL="285750" indent="-285750">
              <a:buFont typeface="Wingdings" panose="05000000000000000000" pitchFamily="2" charset="2"/>
              <a:buChar char="Ø"/>
            </a:pPr>
            <a:r>
              <a:rPr lang="en-US" sz="1400" dirty="0">
                <a:latin typeface="Roboto" panose="02000000000000000000" pitchFamily="2" charset="0"/>
                <a:ea typeface="Roboto" panose="02000000000000000000" pitchFamily="2" charset="0"/>
                <a:cs typeface="Roboto" panose="02000000000000000000" pitchFamily="2" charset="0"/>
              </a:rPr>
              <a:t>Trial stores demonstrated a positive and sustained uplift in performance compared to matched control stores.</a:t>
            </a:r>
          </a:p>
          <a:p>
            <a:pPr marL="285750" indent="-285750">
              <a:spcAft>
                <a:spcPts val="50"/>
              </a:spcAft>
              <a:buFont typeface="Wingdings" panose="05000000000000000000" pitchFamily="2" charset="2"/>
              <a:buChar char="Ø"/>
            </a:pPr>
            <a:r>
              <a:rPr lang="en-US" sz="1400" dirty="0">
                <a:latin typeface="Roboto" panose="02000000000000000000" pitchFamily="2" charset="0"/>
                <a:ea typeface="Roboto" panose="02000000000000000000" pitchFamily="2" charset="0"/>
                <a:cs typeface="Roboto" panose="02000000000000000000" pitchFamily="2" charset="0"/>
              </a:rPr>
              <a:t>The uplift aligns with customer segments identified as high-frequency purchasers in the category analysis.</a:t>
            </a:r>
          </a:p>
          <a:p>
            <a:pPr marL="285750" indent="-285750">
              <a:spcAft>
                <a:spcPts val="50"/>
              </a:spcAft>
              <a:buFont typeface="Wingdings" panose="05000000000000000000" pitchFamily="2" charset="2"/>
              <a:buChar char="Ø"/>
            </a:pPr>
            <a:r>
              <a:rPr lang="en-US" sz="1400" dirty="0">
                <a:latin typeface="Roboto" panose="02000000000000000000" pitchFamily="2" charset="0"/>
                <a:ea typeface="Roboto" panose="02000000000000000000" pitchFamily="2" charset="0"/>
                <a:cs typeface="Roboto" panose="02000000000000000000" pitchFamily="2" charset="0"/>
              </a:rPr>
              <a:t>Results support extending the trial strategy to additional stores with similar customer profiles.</a:t>
            </a:r>
            <a:endParaRPr lang="en-AU" sz="14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Category Analysis</a:t>
            </a:r>
          </a:p>
        </p:txBody>
      </p:sp>
      <p:pic>
        <p:nvPicPr>
          <p:cNvPr id="5" name="Picture 4">
            <a:extLst>
              <a:ext uri="{FF2B5EF4-FFF2-40B4-BE49-F238E27FC236}">
                <a16:creationId xmlns:a16="http://schemas.microsoft.com/office/drawing/2014/main" id="{124ED27D-5C25-7776-1BA5-F9B2B3E3405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817360" y="0"/>
            <a:ext cx="5392978" cy="6858000"/>
          </a:xfrm>
          <a:prstGeom prst="rect">
            <a:avLst/>
          </a:prstGeom>
        </p:spPr>
      </p:pic>
      <p:sp>
        <p:nvSpPr>
          <p:cNvPr id="6" name="TextBox 5">
            <a:extLst>
              <a:ext uri="{FF2B5EF4-FFF2-40B4-BE49-F238E27FC236}">
                <a16:creationId xmlns:a16="http://schemas.microsoft.com/office/drawing/2014/main" id="{71440DF1-7996-5E36-DEA3-796B8944064B}"/>
              </a:ext>
            </a:extLst>
          </p:cNvPr>
          <p:cNvSpPr txBox="1"/>
          <p:nvPr/>
        </p:nvSpPr>
        <p:spPr>
          <a:xfrm>
            <a:off x="7112354" y="3571876"/>
            <a:ext cx="3689696" cy="138499"/>
          </a:xfrm>
          <a:prstGeom prst="rect">
            <a:avLst/>
          </a:prstGeom>
          <a:noFill/>
        </p:spPr>
        <p:txBody>
          <a:bodyPr wrap="square" lIns="0" tIns="0" rIns="0" bIns="0" rtlCol="0" anchor="t">
            <a:spAutoFit/>
          </a:bodyPr>
          <a:lstStyle/>
          <a:p>
            <a:r>
              <a:rPr lang="en-IN" sz="900">
                <a:hlinkClick r:id="rId3" tooltip="https://talltalesfromasmalltown.blogspot.com/2010/07/grocery-store-epiphany.html"/>
              </a:rPr>
              <a:t>This Photo</a:t>
            </a:r>
            <a:r>
              <a:rPr lang="en-IN" sz="900"/>
              <a:t> by Unknown Author is licensed under </a:t>
            </a:r>
            <a:r>
              <a:rPr lang="en-IN" sz="900">
                <a:hlinkClick r:id="rId4" tooltip="https://creativecommons.org/licenses/by-nc-nd/3.0/"/>
              </a:rPr>
              <a:t>CC BY-NC-ND</a:t>
            </a:r>
            <a:endParaRPr lang="en-IN" sz="900"/>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282262" y="41171"/>
            <a:ext cx="10479600" cy="824400"/>
          </a:xfrm>
          <a:noFill/>
        </p:spPr>
        <p:txBody>
          <a:bodyPr/>
          <a:lstStyle/>
          <a:p>
            <a:r>
              <a:rPr lang="en-US" dirty="0"/>
              <a:t>Chip transactions have remained stable over the past year, with a seasonal uplift around Christmas</a:t>
            </a:r>
            <a:endParaRPr lang="en-AU" dirty="0"/>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graphicFrame>
        <p:nvGraphicFramePr>
          <p:cNvPr id="12" name="Chart 11">
            <a:extLst>
              <a:ext uri="{FF2B5EF4-FFF2-40B4-BE49-F238E27FC236}">
                <a16:creationId xmlns:a16="http://schemas.microsoft.com/office/drawing/2014/main" id="{453ABDD8-9D1F-DD9F-5657-D196509D0D98}"/>
              </a:ext>
            </a:extLst>
          </p:cNvPr>
          <p:cNvGraphicFramePr/>
          <p:nvPr>
            <p:extLst>
              <p:ext uri="{D42A27DB-BD31-4B8C-83A1-F6EECF244321}">
                <p14:modId xmlns:p14="http://schemas.microsoft.com/office/powerpoint/2010/main" val="1150748263"/>
              </p:ext>
            </p:extLst>
          </p:nvPr>
        </p:nvGraphicFramePr>
        <p:xfrm>
          <a:off x="1282262" y="1397876"/>
          <a:ext cx="10479600" cy="4677103"/>
        </p:xfrm>
        <a:graphic>
          <a:graphicData uri="http://schemas.openxmlformats.org/drawingml/2006/chart">
            <c:chart xmlns:c="http://schemas.openxmlformats.org/drawingml/2006/chart" xmlns:r="http://schemas.openxmlformats.org/officeDocument/2006/relationships" r:id="rId3"/>
          </a:graphicData>
        </a:graphic>
      </p:graphicFrame>
      <p:sp>
        <p:nvSpPr>
          <p:cNvPr id="13" name="Flowchart: Connector 12">
            <a:extLst>
              <a:ext uri="{FF2B5EF4-FFF2-40B4-BE49-F238E27FC236}">
                <a16:creationId xmlns:a16="http://schemas.microsoft.com/office/drawing/2014/main" id="{8BC577C2-8729-050C-50C2-44C1B9231C5F}"/>
              </a:ext>
            </a:extLst>
          </p:cNvPr>
          <p:cNvSpPr/>
          <p:nvPr/>
        </p:nvSpPr>
        <p:spPr>
          <a:xfrm>
            <a:off x="7909035" y="4382814"/>
            <a:ext cx="141890" cy="157655"/>
          </a:xfrm>
          <a:prstGeom prst="flowChartConnector">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err="1">
              <a:solidFill>
                <a:srgbClr val="000005"/>
              </a:solidFill>
              <a:latin typeface="Roboto Light" panose="02000000000000000000" pitchFamily="2" charset="0"/>
              <a:ea typeface="Roboto Light" panose="02000000000000000000" pitchFamily="2" charset="0"/>
            </a:endParaRPr>
          </a:p>
        </p:txBody>
      </p:sp>
      <p:cxnSp>
        <p:nvCxnSpPr>
          <p:cNvPr id="15" name="Connector: Elbow 14">
            <a:extLst>
              <a:ext uri="{FF2B5EF4-FFF2-40B4-BE49-F238E27FC236}">
                <a16:creationId xmlns:a16="http://schemas.microsoft.com/office/drawing/2014/main" id="{7155DECD-22B6-414A-520B-1B31F6811BE9}"/>
              </a:ext>
            </a:extLst>
          </p:cNvPr>
          <p:cNvCxnSpPr>
            <a:cxnSpLocks/>
          </p:cNvCxnSpPr>
          <p:nvPr/>
        </p:nvCxnSpPr>
        <p:spPr>
          <a:xfrm>
            <a:off x="8045670" y="4461641"/>
            <a:ext cx="562302" cy="478221"/>
          </a:xfrm>
          <a:prstGeom prst="bentConnector3">
            <a:avLst/>
          </a:prstGeom>
          <a:ln w="6350">
            <a:solidFill>
              <a:srgbClr val="000000"/>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1"/>
            <a:ext cx="10479600" cy="843280"/>
          </a:xfrm>
        </p:spPr>
        <p:txBody>
          <a:bodyPr/>
          <a:lstStyle/>
          <a:p>
            <a:r>
              <a:rPr lang="en-US" dirty="0"/>
              <a:t>Affluence has minimal impact, while family shoppers purchase the highest units per transaction</a:t>
            </a:r>
            <a:endParaRPr lang="en-AU" dirty="0"/>
          </a:p>
        </p:txBody>
      </p:sp>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graphicFrame>
        <p:nvGraphicFramePr>
          <p:cNvPr id="18" name="Chart 17">
            <a:extLst>
              <a:ext uri="{FF2B5EF4-FFF2-40B4-BE49-F238E27FC236}">
                <a16:creationId xmlns:a16="http://schemas.microsoft.com/office/drawing/2014/main" id="{D1FD66FC-C7A4-F866-55A0-2E6C515A8F3C}"/>
              </a:ext>
            </a:extLst>
          </p:cNvPr>
          <p:cNvGraphicFramePr/>
          <p:nvPr>
            <p:extLst>
              <p:ext uri="{D42A27DB-BD31-4B8C-83A1-F6EECF244321}">
                <p14:modId xmlns:p14="http://schemas.microsoft.com/office/powerpoint/2010/main" val="4104142788"/>
              </p:ext>
            </p:extLst>
          </p:nvPr>
        </p:nvGraphicFramePr>
        <p:xfrm>
          <a:off x="735725" y="1457070"/>
          <a:ext cx="11446530" cy="4712502"/>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5EE9ED7B-F02C-36D0-56C7-47161AC941BE}"/>
              </a:ext>
            </a:extLst>
          </p:cNvPr>
          <p:cNvSpPr txBox="1"/>
          <p:nvPr/>
        </p:nvSpPr>
        <p:spPr>
          <a:xfrm>
            <a:off x="1522795" y="843281"/>
            <a:ext cx="6674069" cy="323367"/>
          </a:xfrm>
          <a:prstGeom prst="rect">
            <a:avLst/>
          </a:prstGeom>
          <a:noFill/>
        </p:spPr>
        <p:txBody>
          <a:bodyPr wrap="none" lIns="0" tIns="0" rIns="0" bIns="0" rtlCol="0" anchor="t">
            <a:noAutofit/>
          </a:bodyPr>
          <a:lstStyle/>
          <a:p>
            <a:r>
              <a:rPr lang="en-US" sz="1600" dirty="0"/>
              <a:t>Snack Food - Chips – Average units per transaction by affluence and life stage profile</a:t>
            </a:r>
            <a:endParaRPr lang="en-IN" sz="1600" dirty="0" err="1">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306033F0-3418-016E-C171-0D0F12DEAD18}"/>
              </a:ext>
            </a:extLst>
          </p:cNvPr>
          <p:cNvSpPr txBox="1"/>
          <p:nvPr/>
        </p:nvSpPr>
        <p:spPr>
          <a:xfrm>
            <a:off x="4803228" y="1457070"/>
            <a:ext cx="1397874" cy="3724530"/>
          </a:xfrm>
          <a:prstGeom prst="rect">
            <a:avLst/>
          </a:prstGeom>
          <a:solidFill>
            <a:schemeClr val="bg2">
              <a:lumMod val="90000"/>
              <a:alpha val="19000"/>
            </a:schemeClr>
          </a:solidFill>
        </p:spPr>
        <p:txBody>
          <a:bodyPr wrap="none" lIns="0" tIns="0" rIns="0" bIns="0" rtlCol="0" anchor="t">
            <a:noAutofit/>
          </a:bodyPr>
          <a:lstStyle/>
          <a:p>
            <a:pPr algn="l"/>
            <a:endParaRPr lang="en-IN" sz="1200" dirty="0" err="1">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746234" y="0"/>
            <a:ext cx="11445766" cy="651641"/>
          </a:xfrm>
        </p:spPr>
        <p:txBody>
          <a:bodyPr/>
          <a:lstStyle/>
          <a:p>
            <a:r>
              <a:rPr lang="en-US" dirty="0"/>
              <a:t>Mainstream Young Singles &amp; Couples make up the largest proportion of Snacking Chips shoppers; Mainstream Retirees also have a significant share</a:t>
            </a:r>
            <a:endParaRPr lang="en-AU" dirty="0"/>
          </a:p>
        </p:txBody>
      </p:sp>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graphicFrame>
        <p:nvGraphicFramePr>
          <p:cNvPr id="26" name="Chart 25">
            <a:extLst>
              <a:ext uri="{FF2B5EF4-FFF2-40B4-BE49-F238E27FC236}">
                <a16:creationId xmlns:a16="http://schemas.microsoft.com/office/drawing/2014/main" id="{6E607F0C-AE5D-B5BF-C14F-278D9364F697}"/>
              </a:ext>
            </a:extLst>
          </p:cNvPr>
          <p:cNvGraphicFramePr/>
          <p:nvPr>
            <p:extLst>
              <p:ext uri="{D42A27DB-BD31-4B8C-83A1-F6EECF244321}">
                <p14:modId xmlns:p14="http://schemas.microsoft.com/office/powerpoint/2010/main" val="906019050"/>
              </p:ext>
            </p:extLst>
          </p:nvPr>
        </p:nvGraphicFramePr>
        <p:xfrm>
          <a:off x="1198178" y="1418896"/>
          <a:ext cx="11004332" cy="4656083"/>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Box 26">
            <a:extLst>
              <a:ext uri="{FF2B5EF4-FFF2-40B4-BE49-F238E27FC236}">
                <a16:creationId xmlns:a16="http://schemas.microsoft.com/office/drawing/2014/main" id="{35E18B70-43A1-19C3-4075-DE369E992E2A}"/>
              </a:ext>
            </a:extLst>
          </p:cNvPr>
          <p:cNvSpPr txBox="1"/>
          <p:nvPr/>
        </p:nvSpPr>
        <p:spPr>
          <a:xfrm>
            <a:off x="1198178" y="783021"/>
            <a:ext cx="7231119" cy="257504"/>
          </a:xfrm>
          <a:prstGeom prst="rect">
            <a:avLst/>
          </a:prstGeom>
          <a:noFill/>
        </p:spPr>
        <p:txBody>
          <a:bodyPr wrap="none" lIns="0" tIns="0" rIns="0" bIns="0" rtlCol="0" anchor="t">
            <a:noAutofit/>
          </a:bodyPr>
          <a:lstStyle/>
          <a:p>
            <a:r>
              <a:rPr lang="en-US" sz="1600" dirty="0"/>
              <a:t>Snack Food - Chips – Proportion of Customers by affluence and life stage profile</a:t>
            </a:r>
            <a:endParaRPr lang="en-IN" sz="1600" dirty="0" err="1">
              <a:latin typeface="Roboto" panose="02000000000000000000" pitchFamily="2" charset="0"/>
              <a:ea typeface="Roboto" panose="02000000000000000000" pitchFamily="2" charset="0"/>
              <a:cs typeface="Roboto" panose="02000000000000000000" pitchFamily="2" charset="0"/>
            </a:endParaRPr>
          </a:p>
        </p:txBody>
      </p:sp>
      <p:sp>
        <p:nvSpPr>
          <p:cNvPr id="28" name="TextBox 27">
            <a:extLst>
              <a:ext uri="{FF2B5EF4-FFF2-40B4-BE49-F238E27FC236}">
                <a16:creationId xmlns:a16="http://schemas.microsoft.com/office/drawing/2014/main" id="{B859645D-E7ED-14B7-126E-A72C77205397}"/>
              </a:ext>
            </a:extLst>
          </p:cNvPr>
          <p:cNvSpPr txBox="1"/>
          <p:nvPr/>
        </p:nvSpPr>
        <p:spPr>
          <a:xfrm rot="16200000">
            <a:off x="273267" y="3334406"/>
            <a:ext cx="1660637" cy="189186"/>
          </a:xfrm>
          <a:prstGeom prst="rect">
            <a:avLst/>
          </a:prstGeom>
          <a:noFill/>
        </p:spPr>
        <p:txBody>
          <a:bodyPr wrap="none" lIns="0" tIns="0" rIns="0" bIns="0" rtlCol="0" anchor="t">
            <a:noAutofit/>
          </a:bodyPr>
          <a:lstStyle/>
          <a:p>
            <a:pPr algn="l"/>
            <a:r>
              <a:rPr lang="en-US" sz="1200" dirty="0">
                <a:latin typeface="Roboto" panose="02000000000000000000" pitchFamily="2" charset="0"/>
                <a:ea typeface="Roboto" panose="02000000000000000000" pitchFamily="2" charset="0"/>
                <a:cs typeface="Roboto" panose="02000000000000000000" pitchFamily="2" charset="0"/>
              </a:rPr>
              <a:t>Proportion of customers</a:t>
            </a:r>
            <a:endParaRPr lang="en-IN" sz="1200" dirty="0" err="1">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pic>
        <p:nvPicPr>
          <p:cNvPr id="5" name="Picture 4">
            <a:extLst>
              <a:ext uri="{FF2B5EF4-FFF2-40B4-BE49-F238E27FC236}">
                <a16:creationId xmlns:a16="http://schemas.microsoft.com/office/drawing/2014/main" id="{86B7F46F-2648-BC21-E10E-6E8757ED40B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888480" y="0"/>
            <a:ext cx="5303520" cy="6858000"/>
          </a:xfrm>
          <a:prstGeom prst="rect">
            <a:avLst/>
          </a:prstGeom>
        </p:spPr>
      </p:pic>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270547" y="0"/>
            <a:ext cx="10479600" cy="824400"/>
          </a:xfrm>
        </p:spPr>
        <p:txBody>
          <a:bodyPr/>
          <a:lstStyle/>
          <a:p>
            <a:r>
              <a:rPr lang="en-US" dirty="0"/>
              <a:t>The control store is constructed to reflect performance of the trial store rather than the average of other stores </a:t>
            </a:r>
            <a:endParaRPr lang="en-AU" dirty="0"/>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3"/>
          <a:stretch>
            <a:fillRect/>
          </a:stretch>
        </p:blipFill>
        <p:spPr>
          <a:xfrm>
            <a:off x="12305402" y="0"/>
            <a:ext cx="1993565" cy="1822862"/>
          </a:xfrm>
          <a:prstGeom prst="rect">
            <a:avLst/>
          </a:prstGeom>
        </p:spPr>
      </p:pic>
      <p:graphicFrame>
        <p:nvGraphicFramePr>
          <p:cNvPr id="24" name="Chart 23">
            <a:extLst>
              <a:ext uri="{FF2B5EF4-FFF2-40B4-BE49-F238E27FC236}">
                <a16:creationId xmlns:a16="http://schemas.microsoft.com/office/drawing/2014/main" id="{AFB94339-0CA0-376E-510B-F0C46D86AAB1}"/>
              </a:ext>
            </a:extLst>
          </p:cNvPr>
          <p:cNvGraphicFramePr/>
          <p:nvPr>
            <p:extLst>
              <p:ext uri="{D42A27DB-BD31-4B8C-83A1-F6EECF244321}">
                <p14:modId xmlns:p14="http://schemas.microsoft.com/office/powerpoint/2010/main" val="1914148108"/>
              </p:ext>
            </p:extLst>
          </p:nvPr>
        </p:nvGraphicFramePr>
        <p:xfrm>
          <a:off x="1177159" y="1460938"/>
          <a:ext cx="10971988" cy="4834759"/>
        </p:xfrm>
        <a:graphic>
          <a:graphicData uri="http://schemas.openxmlformats.org/drawingml/2006/chart">
            <c:chart xmlns:c="http://schemas.openxmlformats.org/drawingml/2006/chart" xmlns:r="http://schemas.openxmlformats.org/officeDocument/2006/relationships" r:id="rId4"/>
          </a:graphicData>
        </a:graphic>
      </p:graphicFrame>
      <p:sp>
        <p:nvSpPr>
          <p:cNvPr id="25" name="TextBox 24">
            <a:extLst>
              <a:ext uri="{FF2B5EF4-FFF2-40B4-BE49-F238E27FC236}">
                <a16:creationId xmlns:a16="http://schemas.microsoft.com/office/drawing/2014/main" id="{5A1C32D5-60A9-7234-C24F-DADBC85D1F79}"/>
              </a:ext>
            </a:extLst>
          </p:cNvPr>
          <p:cNvSpPr txBox="1"/>
          <p:nvPr/>
        </p:nvSpPr>
        <p:spPr>
          <a:xfrm>
            <a:off x="1545020" y="824400"/>
            <a:ext cx="5013435" cy="279186"/>
          </a:xfrm>
          <a:prstGeom prst="rect">
            <a:avLst/>
          </a:prstGeom>
          <a:noFill/>
        </p:spPr>
        <p:txBody>
          <a:bodyPr wrap="none" lIns="0" tIns="0" rIns="0" bIns="0" rtlCol="0" anchor="t">
            <a:noAutofit/>
          </a:bodyPr>
          <a:lstStyle/>
          <a:p>
            <a:r>
              <a:rPr lang="en-US" sz="1600" dirty="0"/>
              <a:t>Snack Food - Chips – Avg monthly store sales over time </a:t>
            </a:r>
            <a:endParaRPr lang="en-IN" sz="1600" dirty="0" err="1">
              <a:latin typeface="Roboto" panose="02000000000000000000" pitchFamily="2" charset="0"/>
              <a:ea typeface="Roboto" panose="02000000000000000000" pitchFamily="2" charset="0"/>
              <a:cs typeface="Roboto" panose="02000000000000000000" pitchFamily="2" charset="0"/>
            </a:endParaRPr>
          </a:p>
        </p:txBody>
      </p:sp>
      <p:sp>
        <p:nvSpPr>
          <p:cNvPr id="26" name="TextBox 25">
            <a:extLst>
              <a:ext uri="{FF2B5EF4-FFF2-40B4-BE49-F238E27FC236}">
                <a16:creationId xmlns:a16="http://schemas.microsoft.com/office/drawing/2014/main" id="{C2ABDC69-0447-9D9C-42A6-523BA7951D15}"/>
              </a:ext>
            </a:extLst>
          </p:cNvPr>
          <p:cNvSpPr txBox="1"/>
          <p:nvPr/>
        </p:nvSpPr>
        <p:spPr>
          <a:xfrm rot="16200000">
            <a:off x="599091" y="3499945"/>
            <a:ext cx="914400" cy="241736"/>
          </a:xfrm>
          <a:prstGeom prst="rect">
            <a:avLst/>
          </a:prstGeom>
          <a:noFill/>
        </p:spPr>
        <p:txBody>
          <a:bodyPr wrap="none" lIns="0" tIns="0" rIns="0" bIns="0" rtlCol="0" anchor="t">
            <a:noAutofit/>
          </a:bodyPr>
          <a:lstStyle/>
          <a:p>
            <a:pPr algn="ctr"/>
            <a:r>
              <a:rPr lang="en-US" sz="1200" dirty="0">
                <a:latin typeface="Roboto" panose="02000000000000000000" pitchFamily="2" charset="0"/>
                <a:ea typeface="Roboto" panose="02000000000000000000" pitchFamily="2" charset="0"/>
                <a:cs typeface="Roboto" panose="02000000000000000000" pitchFamily="2" charset="0"/>
              </a:rPr>
              <a:t>Sales</a:t>
            </a:r>
            <a:endParaRPr lang="en-IN" sz="1200" dirty="0" err="1">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281868" y="0"/>
            <a:ext cx="10479600" cy="824400"/>
          </a:xfrm>
        </p:spPr>
        <p:txBody>
          <a:bodyPr/>
          <a:lstStyle/>
          <a:p>
            <a:r>
              <a:rPr lang="en-US" dirty="0"/>
              <a:t>From Feb to May the trial store outperformed the control store highlighting the success of the new store layout</a:t>
            </a:r>
            <a:endParaRPr lang="en-AU" dirty="0"/>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graphicFrame>
        <p:nvGraphicFramePr>
          <p:cNvPr id="28" name="Chart 27">
            <a:extLst>
              <a:ext uri="{FF2B5EF4-FFF2-40B4-BE49-F238E27FC236}">
                <a16:creationId xmlns:a16="http://schemas.microsoft.com/office/drawing/2014/main" id="{3C4D2D76-2F3A-9E2C-7BBC-115D47957FFA}"/>
              </a:ext>
            </a:extLst>
          </p:cNvPr>
          <p:cNvGraphicFramePr/>
          <p:nvPr>
            <p:extLst>
              <p:ext uri="{D42A27DB-BD31-4B8C-83A1-F6EECF244321}">
                <p14:modId xmlns:p14="http://schemas.microsoft.com/office/powerpoint/2010/main" val="2665077144"/>
              </p:ext>
            </p:extLst>
          </p:nvPr>
        </p:nvGraphicFramePr>
        <p:xfrm>
          <a:off x="1355833" y="1313792"/>
          <a:ext cx="10836165" cy="4792717"/>
        </p:xfrm>
        <a:graphic>
          <a:graphicData uri="http://schemas.openxmlformats.org/drawingml/2006/chart">
            <c:chart xmlns:c="http://schemas.openxmlformats.org/drawingml/2006/chart" xmlns:r="http://schemas.openxmlformats.org/officeDocument/2006/relationships" r:id="rId3"/>
          </a:graphicData>
        </a:graphic>
      </p:graphicFrame>
      <p:sp>
        <p:nvSpPr>
          <p:cNvPr id="29" name="TextBox 28">
            <a:extLst>
              <a:ext uri="{FF2B5EF4-FFF2-40B4-BE49-F238E27FC236}">
                <a16:creationId xmlns:a16="http://schemas.microsoft.com/office/drawing/2014/main" id="{ECC068EC-46A3-08F0-EB16-936A7935865F}"/>
              </a:ext>
            </a:extLst>
          </p:cNvPr>
          <p:cNvSpPr txBox="1"/>
          <p:nvPr/>
        </p:nvSpPr>
        <p:spPr>
          <a:xfrm>
            <a:off x="1281868" y="751491"/>
            <a:ext cx="5697001" cy="415157"/>
          </a:xfrm>
          <a:prstGeom prst="rect">
            <a:avLst/>
          </a:prstGeom>
          <a:noFill/>
        </p:spPr>
        <p:txBody>
          <a:bodyPr wrap="none" lIns="0" tIns="0" rIns="0" bIns="0" rtlCol="0" anchor="t">
            <a:noAutofit/>
          </a:bodyPr>
          <a:lstStyle/>
          <a:p>
            <a:r>
              <a:rPr lang="en-US" dirty="0"/>
              <a:t>Snack Food – Chips – Number of customers over time </a:t>
            </a:r>
            <a:endParaRPr lang="en-IN" dirty="0" err="1">
              <a:latin typeface="Roboto" panose="02000000000000000000" pitchFamily="2" charset="0"/>
              <a:ea typeface="Roboto" panose="02000000000000000000" pitchFamily="2" charset="0"/>
              <a:cs typeface="Roboto" panose="02000000000000000000" pitchFamily="2" charset="0"/>
            </a:endParaRPr>
          </a:p>
        </p:txBody>
      </p:sp>
      <p:sp>
        <p:nvSpPr>
          <p:cNvPr id="30" name="TextBox 29">
            <a:extLst>
              <a:ext uri="{FF2B5EF4-FFF2-40B4-BE49-F238E27FC236}">
                <a16:creationId xmlns:a16="http://schemas.microsoft.com/office/drawing/2014/main" id="{46F1530F-07AE-1DE9-77F8-C1277BFF483C}"/>
              </a:ext>
            </a:extLst>
          </p:cNvPr>
          <p:cNvSpPr txBox="1"/>
          <p:nvPr/>
        </p:nvSpPr>
        <p:spPr>
          <a:xfrm rot="16200000">
            <a:off x="348932" y="3216167"/>
            <a:ext cx="1786762" cy="210207"/>
          </a:xfrm>
          <a:prstGeom prst="rect">
            <a:avLst/>
          </a:prstGeom>
          <a:noFill/>
        </p:spPr>
        <p:txBody>
          <a:bodyPr wrap="none" lIns="0" tIns="0" rIns="0" bIns="0" rtlCol="0" anchor="t">
            <a:noAutofit/>
          </a:bodyPr>
          <a:lstStyle/>
          <a:p>
            <a:pPr algn="ctr"/>
            <a:r>
              <a:rPr lang="en-US" sz="1200" dirty="0">
                <a:latin typeface="Roboto" panose="02000000000000000000" pitchFamily="2" charset="0"/>
                <a:ea typeface="Roboto" panose="02000000000000000000" pitchFamily="2" charset="0"/>
                <a:cs typeface="Roboto" panose="02000000000000000000" pitchFamily="2" charset="0"/>
              </a:rPr>
              <a:t>Number of customers</a:t>
            </a:r>
            <a:endParaRPr lang="en-IN" sz="1200" dirty="0" err="1">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11652</TotalTime>
  <Words>579</Words>
  <Application>Microsoft Office PowerPoint</Application>
  <PresentationFormat>Widescreen</PresentationFormat>
  <Paragraphs>65</Paragraphs>
  <Slides>11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Calibri</vt:lpstr>
      <vt:lpstr>Roboto Light</vt:lpstr>
      <vt:lpstr>Arial</vt:lpstr>
      <vt:lpstr>Roboto Medium</vt:lpstr>
      <vt:lpstr>Wingdings</vt:lpstr>
      <vt:lpstr>Roboto</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adithi sreenath</cp:lastModifiedBy>
  <cp:revision>468</cp:revision>
  <dcterms:created xsi:type="dcterms:W3CDTF">2018-02-07T23:23:24Z</dcterms:created>
  <dcterms:modified xsi:type="dcterms:W3CDTF">2026-01-12T14:19:52Z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